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Adversarial Geometric Distillation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Grounding for Hallucination Mitigation in Text-to-3D Generation</a:t>
            </a:r>
          </a:p>
          <a:p/>
          <a:p>
            <a:r>
              <a:t>Giman Dissanayaka | 215519C</a:t>
            </a:r>
          </a:p>
          <a:p>
            <a:r>
              <a:t>University of Moratuwa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Text-to-3D Generation?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generates 3D models from text prompts (e.g., 'a knight in armour')</a:t>
            </a:r>
          </a:p>
          <a:p>
            <a:pPr/>
            <a:r>
              <a:t>Powered by Score Distillation Sampling (SDS) + pre-trained 2D diffusion priors</a:t>
            </a:r>
          </a:p>
          <a:p>
            <a:pPr/>
            <a:r>
              <a:t>Key frameworks: DreamFusion, Magic3D, Fantasia3D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3D Hallucinations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are hallucinations?</a:t>
            </a:r>
          </a:p>
          <a:p>
            <a:pPr lvl="1"/>
            <a:r>
              <a:t>Janus Faces — same face on front and back</a:t>
            </a:r>
          </a:p>
          <a:p>
            <a:pPr lvl="1"/>
            <a:r>
              <a:t>Floating Blobs — disconnected geometry fragments</a:t>
            </a:r>
          </a:p>
          <a:p>
            <a:pPr lvl="1"/>
            <a:r>
              <a:t>Geometric Spikes — sharp protrusions on the surface</a:t>
            </a:r>
          </a:p>
          <a:p>
            <a:pPr lvl="1"/>
            <a:r>
              <a:t>Topology Errors — holes, handles, non-manifold patches</a:t>
            </a:r>
          </a:p>
          <a:p>
            <a:pPr/>
            <a:r>
              <a:t>Why do they occur?</a:t>
            </a:r>
          </a:p>
          <a:p>
            <a:pPr lvl="1"/>
            <a:r>
              <a:t>SDS gradient is geometry-blind — defined entirely in 2D pixel space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Detect geometric hallucinations using 3D-native spectral and topological metrics</a:t>
            </a:r>
          </a:p>
          <a:p>
            <a:pPr/>
            <a:r>
              <a:t>2. Spatially ground detections to individual mesh vertices without language intermediary</a:t>
            </a:r>
          </a:p>
          <a:p>
            <a:pPr/>
            <a:r>
              <a:t>3. Apply a bounded, selective geometric refinement using grounded vertex weights</a:t>
            </a:r>
          </a:p>
          <a:p>
            <a:pPr/>
            <a:r>
              <a:t>4. Validate the closed-loop pipeline on a real 3D mesh dataset</a:t>
            </a:r>
          </a:p>
          <a:p>
            <a:pPr/>
            <a:r>
              <a:t>Core Hypothesis: A spatially-aware geometric feedback mechanism grounded in spectral graph theory and algebraic topology is both necessary and sufficient to eliminate hallucinations without re-prompting a diffusion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Text-to-3D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2017: Point-E / Point Set Gen. - First learned 3D point cloud synthesis</a:t>
            </a:r>
          </a:p>
          <a:p>
            <a:pPr/>
            <a:r>
              <a:t>2022: Dream Fields / Latent-NeRF - CLIP-guided NeRF optimisation</a:t>
            </a:r>
          </a:p>
          <a:p>
            <a:pPr/>
            <a:r>
              <a:t>2022: DreamFusion (SDS) - 2D diffusion prior → 3D via score distillation</a:t>
            </a:r>
          </a:p>
          <a:p>
            <a:pPr/>
            <a:r>
              <a:t>2023: Magic3D, Fantasia3D - Coarse-to-fine, disentangled geometry/appearance</a:t>
            </a:r>
          </a:p>
          <a:p>
            <a:pPr/>
            <a:r>
              <a:t>2023: ProlificDreamer (VSD) - Variational score distillation</a:t>
            </a:r>
          </a:p>
          <a:p>
            <a:pPr/>
            <a:r>
              <a:t>2023: Hallo3D - First LMM-based hallucination detection + language feedback</a:t>
            </a:r>
          </a:p>
          <a:p>
            <a:pPr/>
            <a:r>
              <a:t>2024: MeshGPT, 3D Gaussian Splatting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SDS Works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SDS frames 3D generation as distilling a 2D diffusion prior</a:t>
            </a:r>
          </a:p>
          <a:p>
            <a:pPr/>
            <a:r>
              <a:t>Gradient flows from 2D pixel space → 3D representation</a:t>
            </a:r>
          </a:p>
          <a:p>
            <a:pPr/>
            <a:r>
              <a:t>Limitation: No geometric constraint exists in this objective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Mitigation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Perp-Neg: Modifies SDS gradient direction (Only reduces Janus, cannot fix geometry)</a:t>
            </a:r>
          </a:p>
          <a:p>
            <a:pPr/>
            <a:r>
              <a:t>Entropic SDS: Score-space debiasing (Geometry-blind — no mesh inspection)</a:t>
            </a:r>
          </a:p>
          <a:p>
            <a:pPr/>
            <a:r>
              <a:t>Hallo3D: LMM inspects renders → language prompt (Semantic bottleneck: spatial info lost in text)</a:t>
            </a:r>
          </a:p>
          <a:p>
            <a:pPr/>
            <a:r>
              <a:t>Laplacian Mesh Editing (Sorkine): Energy minimisation on vertex positions (Requires explicit spatial constraints)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Semantic Bottleneck?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Hallo3D detects: 'Janus face at mesh back region'</a:t>
            </a:r>
          </a:p>
          <a:p>
            <a:pPr/>
            <a:r>
              <a:t>Converts to language: negative_prompt = 'no Janus face'</a:t>
            </a:r>
          </a:p>
          <a:p>
            <a:pPr/>
            <a:r>
              <a:t>Feeds back to diffusion model → diffuse, global correction</a:t>
            </a:r>
          </a:p>
          <a:p>
            <a:pPr/>
            <a:r>
              <a:t>Result:</a:t>
            </a:r>
          </a:p>
          <a:p>
            <a:pPr lvl="1"/>
            <a:r>
              <a:t>Vertex coordinates lost</a:t>
            </a:r>
          </a:p>
          <a:p>
            <a:pPr lvl="1"/>
            <a:r>
              <a:t>Topology info lost</a:t>
            </a:r>
          </a:p>
          <a:p>
            <a:pPr lvl="1"/>
            <a:r>
              <a:t>Spatial precision lost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Formal 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existing framework implements a closed-loop feedback mechanism that detects geometric hallucinations using spatially complete 3D metrics, grounds detections directly to individual mesh vertices without natural-language conversion, and applies a spatially selective, theoretically bounded geometric correction.</a:t>
            </a:r>
          </a:p>
          <a:p>
            <a:pPr/>
            <a:r>
              <a:t>Three specific gaps:</a:t>
            </a:r>
          </a:p>
          <a:p>
            <a:pPr lvl="1"/>
            <a:r>
              <a:t>SDS objective has no geometric energy term — geometry-blind by design</a:t>
            </a:r>
          </a:p>
          <a:p>
            <a:pPr lvl="1"/>
            <a:r>
              <a:t>No vertex-level correction signal derived from 3D analysis exists</a:t>
            </a:r>
          </a:p>
          <a:p>
            <a:pPr lvl="1"/>
            <a:r>
              <a:t>Language channel (Hallo3D) discards spatial precision at the feedback stage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Spectral Graph Theory as a Detection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Mesh = Graph G = (V, E) → Laplacian: L = D − A</a:t>
            </a:r>
          </a:p>
          <a:p>
            <a:pPr/>
            <a:r>
              <a:t>Eigenvalue Variance: High variance → spiky, irregular geometry</a:t>
            </a:r>
          </a:p>
          <a:p>
            <a:pPr/>
            <a:r>
              <a:t>Fiedler Value (λ2): Near zero → mesh close to disconnected (floating artefacts)</a:t>
            </a:r>
          </a:p>
          <a:p>
            <a:pPr/>
            <a:r>
              <a:t>Computed in O(|V|+|E|) — scalable to 500K+ vertex meshes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Algebraic Topology as a Global Integrity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Euler Characteristic: χ = V − E + F → Genus: g = (2 − χ)/2</a:t>
            </a:r>
          </a:p>
          <a:p>
            <a:pPr/>
            <a:r>
              <a:t>Betti Numbers: β0 = connected components, β1 = loops, β2 = voids</a:t>
            </a:r>
          </a:p>
          <a:p>
            <a:pPr/>
            <a:r>
              <a:t>Metrics:</a:t>
            </a:r>
          </a:p>
          <a:p>
            <a:pPr lvl="1"/>
            <a:r>
              <a:t>β0 (Components): 1 (Clean) vs &gt; 1 (floating blobs)</a:t>
            </a:r>
          </a:p>
          <a:p>
            <a:pPr lvl="1"/>
            <a:r>
              <a:t>Genus g: 0 (Clean) vs &gt; 0 (unintended handles)</a:t>
            </a:r>
          </a:p>
          <a:p>
            <a:pPr lvl="1"/>
            <a:r>
              <a:t>Fiedler λ2: &gt; 0 (Clean) vs ≈ 0 (near-disconnected)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GNN Critic + Laplacian Refinement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Graph Convolutional Critic: 2-layer GCNConv maps vertex features → anomaly score per vertex</a:t>
            </a:r>
          </a:p>
          <a:p>
            <a:pPr lvl="1"/>
            <a:r>
              <a:t>Input: [degree(vi), mean_edge_length(vi)]</a:t>
            </a:r>
          </a:p>
          <a:p>
            <a:pPr lvl="1"/>
            <a:r>
              <a:t>Output: anomaly score si ∈ [0, 1]</a:t>
            </a:r>
          </a:p>
          <a:p>
            <a:pPr/>
            <a:r>
              <a:t>Laplacian Mesh Editing (Sorkine): Energy minimisation for bounded deformation</a:t>
            </a:r>
          </a:p>
          <a:p>
            <a:pPr lvl="1"/>
            <a:r>
              <a:t>E(x) = λ ||Lv||^2 + (1-λ)||v - v(0)||^2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AGD Framework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AGD = closed-loop refinement layer that attaches to any text-to-3D generator</a:t>
            </a:r>
          </a:p>
          <a:p>
            <a:pPr/>
            <a:r>
              <a:t>Three modules:</a:t>
            </a:r>
          </a:p>
          <a:p>
            <a:pPr/>
            <a:r>
              <a:t>  1. Preprocessing — load, validate, normalise mesh</a:t>
            </a:r>
          </a:p>
          <a:p>
            <a:pPr/>
            <a:r>
              <a:t>  2. ML Engine — discriminator + critic + LMM detector</a:t>
            </a:r>
          </a:p>
          <a:p>
            <a:pPr/>
            <a:r>
              <a:t>  3. Extended Module — geometric grounding + refinement optimizer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Innovation: Geometric Grounding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How to convert 'back view severity = 0.7' → which vertices to fix?</a:t>
            </a:r>
          </a:p>
          <a:p>
            <a:pPr/>
            <a:r>
              <a:t>Solution: Projection-based grounding — no language required</a:t>
            </a:r>
          </a:p>
          <a:p>
            <a:pPr/>
            <a:r>
              <a:t>  1. Project all vertices onto view direction dv</a:t>
            </a:r>
          </a:p>
          <a:p>
            <a:pPr/>
            <a:r>
              <a:t>  2. Select top quantile by projection (closest to camera)</a:t>
            </a:r>
          </a:p>
          <a:p>
            <a:pPr/>
            <a:r>
              <a:t>  3. Filter: normal alignment ni · dv ≥ threshold</a:t>
            </a:r>
          </a:p>
          <a:p>
            <a:pPr/>
            <a:r>
              <a:t>  4. Assign: wi = max(wi, severity)</a:t>
            </a:r>
          </a:p>
          <a:p>
            <a:pPr/>
            <a:r>
              <a:t>Result: Per-vertex weight map wi ∈ [0,1] with spatial precision at vertex level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Refinement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Weighted energy minimisation applied per-vertex:</a:t>
            </a:r>
          </a:p>
          <a:p>
            <a:pPr/>
            <a:r>
              <a:t>v_i ← v_i - η · (λ ∇L_geo + (1-λ)∇D) · w_i</a:t>
            </a:r>
          </a:p>
          <a:p>
            <a:pPr/>
            <a:r>
              <a:t>Components:</a:t>
            </a:r>
          </a:p>
          <a:p>
            <a:pPr lvl="1"/>
            <a:r>
              <a:t>L_geo = Laplacian smoothing (removes spikes)</a:t>
            </a:r>
          </a:p>
          <a:p>
            <a:pPr lvl="1"/>
            <a:r>
              <a:t>D = Distillation anchor (prevents over-smoothing clean regions)</a:t>
            </a:r>
          </a:p>
          <a:p>
            <a:pPr lvl="1"/>
            <a:r>
              <a:t>w_i = grounded weight (concentrates correction on hallucinated vertices only)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EXP_03: CLIP-Based Detection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Validate training-free hallucination detection using CLIP + geometric metrics</a:t>
            </a:r>
          </a:p>
          <a:p>
            <a:pPr/>
            <a:r>
              <a:t>5 Detectors on 24 rendered views (8 azimuth × 3 elevation, 512×512):</a:t>
            </a:r>
          </a:p>
          <a:p>
            <a:pPr lvl="1"/>
            <a:r>
              <a:t>CLIP Semantic Deviation (35%): Janus faces, semantic drift</a:t>
            </a:r>
          </a:p>
          <a:p>
            <a:pPr lvl="1"/>
            <a:r>
              <a:t>Depth Discontinuity (25%): Floating geometry</a:t>
            </a:r>
          </a:p>
          <a:p>
            <a:pPr lvl="1"/>
            <a:r>
              <a:t>Normal Inconsistency (20%): Inverted surfaces</a:t>
            </a:r>
          </a:p>
          <a:p>
            <a:pPr lvl="1"/>
            <a:r>
              <a:t>Silhouette Asymmetry (15%): Asymmetric Janus geometry</a:t>
            </a:r>
          </a:p>
          <a:p>
            <a:pPr lvl="1"/>
            <a:r>
              <a:t>Edge Density Variance (5%): View structural inconsistency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EXP_03: Dragon Mesh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mesh: Stanford Dragon (~430K vertices)</a:t>
            </a:r>
          </a:p>
          <a:p>
            <a:pPr/>
            <a:r>
              <a:t>Global hallucination score: 0.0856 (Clean)</a:t>
            </a:r>
          </a:p>
          <a:p>
            <a:pPr/>
            <a:r>
              <a:t>No Janus, floater, or normal-flip detected</a:t>
            </a:r>
          </a:p>
          <a:p>
            <a:pPr/>
            <a:r>
              <a:t>Dominant loss: L_depth = 0.017107 (expected for complex surface)</a:t>
            </a:r>
          </a:p>
          <a:p>
            <a:pPr/>
            <a:r>
              <a:t>View weights: Uniform ~0.042 (no single view dominates)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EXP_04: AGD Pipeline — What's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Fully Implemented:</a:t>
            </a:r>
          </a:p>
          <a:p>
            <a:pPr lvl="1"/>
            <a:r>
              <a:t>Discriminator: topology (χ, genus, β0) + spectral + geometry quality</a:t>
            </a:r>
          </a:p>
          <a:p>
            <a:pPr lvl="1"/>
            <a:r>
              <a:t>Heuristic Critic: degree z-score + edge-length z-score per vertex</a:t>
            </a:r>
          </a:p>
          <a:p>
            <a:pPr lvl="1"/>
            <a:r>
              <a:t>Renderer: Fibonacci-sphere, 6–100+ views, 5 buffers</a:t>
            </a:r>
          </a:p>
          <a:p>
            <a:pPr lvl="1"/>
            <a:r>
              <a:t>Grounding Module: view-to-vertex projection + max-fusion</a:t>
            </a:r>
          </a:p>
          <a:p>
            <a:pPr lvl="1"/>
            <a:r>
              <a:t>Refinement Optimizer: Laplacian + anchor, weighted per-vertex</a:t>
            </a:r>
          </a:p>
          <a:p>
            <a:pPr lvl="1"/>
            <a:r>
              <a:t>LMM Detector: Local LLaVA v1.5/1.6, JSON severity output</a:t>
            </a:r>
          </a:p>
          <a:p>
            <a:pPr/>
            <a:r>
              <a:t>Planned:</a:t>
            </a:r>
          </a:p>
          <a:p>
            <a:pPr lvl="1"/>
            <a:r>
              <a:t>SDS/Threestudio integration | Differentiable topology losses | Objaverse benchmarks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AGD Pipeline — 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executes end-to-end on 21-mesh test dataset</a:t>
            </a:r>
          </a:p>
          <a:p>
            <a:pPr/>
            <a:r>
              <a:t>Before/after hallucination score comparison printed per mesh</a:t>
            </a:r>
          </a:p>
          <a:p>
            <a:pPr/>
            <a:r>
              <a:t>10-metric geometry error report: CD, HD95, NCS, SSIM, Angular Error, Roughness RMS, Edge-IoU</a:t>
            </a:r>
          </a:p>
          <a:p>
            <a:pPr/>
            <a:r>
              <a:t>Example CLI:</a:t>
            </a:r>
          </a:p>
          <a:p>
            <a:pPr/>
            <a:r>
              <a:t>  python agd_pipeline.py --input-file 3d_samples/janus.obj \</a:t>
            </a:r>
          </a:p>
          <a:p>
            <a:pPr lvl="1"/>
            <a:r>
              <a:t>render-views --num-views 36 --use-vlm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21 meshes including clean and hallucinated samples</a:t>
            </a:r>
          </a:p>
          <a:p>
            <a:pPr/>
            <a:r>
              <a:t>Categories:</a:t>
            </a:r>
          </a:p>
          <a:p>
            <a:pPr lvl="1"/>
            <a:r>
              <a:t>Clean references: bunny.ply, dragon.ply, happy.ply, horse.ply</a:t>
            </a:r>
          </a:p>
          <a:p>
            <a:pPr lvl="1"/>
            <a:r>
              <a:t>AI-generated: Meshy_AI_Infernal_Ironclad.obj</a:t>
            </a:r>
          </a:p>
          <a:p>
            <a:pPr lvl="1"/>
            <a:r>
              <a:t>Known hallucinations: janus.obj, Mr_Bean.obj</a:t>
            </a:r>
          </a:p>
          <a:p>
            <a:pPr lvl="1"/>
            <a:r>
              <a:t>Character/organic: Bearded_guy.ply, Rigged_Hand.obj, hand.ply</a:t>
            </a:r>
          </a:p>
          <a:p>
            <a:pPr lvl="1"/>
            <a:r>
              <a:t>Complex geometry: blade.ply, venusm.obj, elepham.obj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EXP_03 → EXP_04: Key Upgrades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Views:</a:t>
            </a:r>
          </a:p>
          <a:p>
            <a:pPr lvl="1"/>
            <a:r>
              <a:t>EXP_03: 24 (fixed grid) | EXP_04: 6–100+ (Fibonacci-sphere)</a:t>
            </a:r>
          </a:p>
          <a:p>
            <a:pPr/>
            <a:r>
              <a:t>Detection:</a:t>
            </a:r>
          </a:p>
          <a:p>
            <a:pPr lvl="1"/>
            <a:r>
              <a:t>EXP_03: 5 image detectors | EXP_04: Graph-theoretic + LMM + critic</a:t>
            </a:r>
          </a:p>
          <a:p>
            <a:pPr/>
            <a:r>
              <a:t>Correction:</a:t>
            </a:r>
          </a:p>
          <a:p>
            <a:pPr lvl="1"/>
            <a:r>
              <a:t>EXP_03: Loss scalar only | EXP_04: Per-vertex weight map</a:t>
            </a:r>
          </a:p>
          <a:p>
            <a:pPr/>
            <a:r>
              <a:t>Spatial precision:</a:t>
            </a:r>
          </a:p>
          <a:p>
            <a:pPr lvl="1"/>
            <a:r>
              <a:t>EXP_03: View-level | EXP_04: Vertex-level</a:t>
            </a:r>
          </a:p>
          <a:p>
            <a:pPr/>
            <a:r>
              <a:t>Bottleneck:</a:t>
            </a:r>
          </a:p>
          <a:p>
            <a:pPr lvl="1"/>
            <a:r>
              <a:t>EXP_03: Loss scalar | EXP_04: Eliminated entirely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(Three Modules)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Preprocessing Module (agd_pipeline.py): Load → Validate → Normalise → Adjacency graph</a:t>
            </a:r>
          </a:p>
          <a:p>
            <a:pPr/>
            <a:r>
              <a:t>ML Engine (discriminator.py, critic.py, renderer.py, lmm_detector.py): Detect hallucinations using global + local + visual signals</a:t>
            </a:r>
          </a:p>
          <a:p>
            <a:pPr/>
            <a:r>
              <a:t>Extended Module (grounding.py, optimizer.py): Ground → Refine → Evaluate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interaction patterns:</a:t>
            </a:r>
          </a:p>
          <a:p>
            <a:pPr/>
            <a:r>
              <a:t>  1. Sequential execution with optional LMM/rendering branches</a:t>
            </a:r>
          </a:p>
          <a:p>
            <a:pPr/>
            <a:r>
              <a:t>  2. Signal fusion at grounding: max(critic_weight, LMM_bias) per vertex</a:t>
            </a:r>
          </a:p>
          <a:p>
            <a:pPr/>
            <a:r>
              <a:t>  3. Discriminator called before and after refinement (symmetric)</a:t>
            </a:r>
          </a:p>
          <a:p>
            <a:pPr/>
            <a:r>
              <a:t>  4. 10-metric geometry report from geometry_metrics.py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Level 1 (Current) - Post-processing: any .obj/.ply/.stl → AGD pipeline (Working)</a:t>
            </a:r>
          </a:p>
          <a:p>
            <a:pPr/>
            <a:r>
              <a:t>Level 2 (Planned) - In-loop: Add E(x) to SDS loss in Threestudio (Planned)</a:t>
            </a:r>
          </a:p>
          <a:p>
            <a:pPr/>
            <a:r>
              <a:t>Level 3 (Planned) - Benchmark: Objaverse/GSO evaluation + comparison tables (Planned)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Poole et al. — DreamFusion: Text-to-3D Using 2D Diffusion</a:t>
            </a:r>
          </a:p>
          <a:p>
            <a:pPr/>
            <a:r>
              <a:t>2. Wang et al. — ProlificDreamer: VSD for Text-to-3D</a:t>
            </a:r>
          </a:p>
          <a:p>
            <a:pPr/>
            <a:r>
              <a:t>3. Chen et al. — Fantasia3D: Disentangling Geometry and Appearance</a:t>
            </a:r>
          </a:p>
          <a:p>
            <a:pPr/>
            <a:r>
              <a:t>4. Cui et al. — Hallo3D: Dynamic Portrait Animation</a:t>
            </a:r>
          </a:p>
          <a:p>
            <a:pPr/>
            <a:r>
              <a:t>5. Armandpour et al. — Perp-Neg: Alleviating Janus Problem</a:t>
            </a:r>
          </a:p>
          <a:p>
            <a:pPr/>
            <a:r>
              <a:t>6. Sorkine — Laplacian Mesh Processing</a:t>
            </a:r>
          </a:p>
          <a:p>
            <a:pPr/>
            <a:r>
              <a:t>7. Liu et al. — Visual Instruction Tuning (LLaVA)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