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9144000"/>
  <p:embeddedFontLst>
    <p:embeddedFont>
      <p:font typeface="Urbanist Medium"/>
      <p:regular r:id="rId22"/>
      <p:bold r:id="rId23"/>
      <p:italic r:id="rId24"/>
      <p:boldItalic r:id="rId25"/>
    </p:embeddedFont>
    <p:embeddedFont>
      <p:font typeface="Urbanist"/>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UrbanistMedium-regular.fntdata"/><Relationship Id="rId21" Type="http://schemas.openxmlformats.org/officeDocument/2006/relationships/slide" Target="slides/slide16.xml"/><Relationship Id="rId24" Type="http://schemas.openxmlformats.org/officeDocument/2006/relationships/font" Target="fonts/UrbanistMedium-italic.fntdata"/><Relationship Id="rId23" Type="http://schemas.openxmlformats.org/officeDocument/2006/relationships/font" Target="fonts/UrbanistMedium-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Urbanist-regular.fntdata"/><Relationship Id="rId25" Type="http://schemas.openxmlformats.org/officeDocument/2006/relationships/font" Target="fonts/UrbanistMedium-boldItalic.fntdata"/><Relationship Id="rId28" Type="http://schemas.openxmlformats.org/officeDocument/2006/relationships/font" Target="fonts/Urbanist-italic.fntdata"/><Relationship Id="rId27" Type="http://schemas.openxmlformats.org/officeDocument/2006/relationships/font" Target="fonts/Urbanist-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Urbanist-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3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3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10.png"/><Relationship Id="rId9"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9.png"/><Relationship Id="rId8"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1.png"/><Relationship Id="rId5"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5.png"/><Relationship Id="rId6" Type="http://schemas.openxmlformats.org/officeDocument/2006/relationships/image" Target="../media/image35.png"/><Relationship Id="rId7" Type="http://schemas.openxmlformats.org/officeDocument/2006/relationships/image" Target="../media/image3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3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20.png"/><Relationship Id="rId5" Type="http://schemas.openxmlformats.org/officeDocument/2006/relationships/image" Target="../media/image2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31.png"/><Relationship Id="rId5" Type="http://schemas.openxmlformats.org/officeDocument/2006/relationships/image" Target="../media/image18.png"/><Relationship Id="rId6" Type="http://schemas.openxmlformats.org/officeDocument/2006/relationships/image" Target="../media/image17.png"/><Relationship Id="rId7" Type="http://schemas.openxmlformats.org/officeDocument/2006/relationships/image" Target="../media/image2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16.png"/><Relationship Id="rId5" Type="http://schemas.openxmlformats.org/officeDocument/2006/relationships/image" Target="../media/image21.png"/><Relationship Id="rId6" Type="http://schemas.openxmlformats.org/officeDocument/2006/relationships/image" Target="../media/image26.png"/><Relationship Id="rId7"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19.png"/><Relationship Id="rId9"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15.png"/><Relationship Id="rId7" Type="http://schemas.openxmlformats.org/officeDocument/2006/relationships/image" Target="../media/image14.png"/><Relationship Id="rId8" Type="http://schemas.openxmlformats.org/officeDocument/2006/relationships/image" Target="../media/image3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3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33.png"/><Relationship Id="rId5" Type="http://schemas.openxmlformats.org/officeDocument/2006/relationships/image" Target="../media/image24.png"/><Relationship Id="rId6" Type="http://schemas.openxmlformats.org/officeDocument/2006/relationships/image" Target="../media/image27.png"/><Relationship Id="rId7"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1595437" y="2443311"/>
            <a:ext cx="9001125" cy="1340941"/>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4800" u="none" cap="none" strike="noStrike">
                <a:solidFill>
                  <a:srgbClr val="F8FAFC"/>
                </a:solidFill>
                <a:latin typeface="Urbanist"/>
                <a:ea typeface="Urbanist"/>
                <a:cs typeface="Urbanist"/>
                <a:sym typeface="Urbanist"/>
              </a:rPr>
              <a:t>Interim Progress: </a:t>
            </a:r>
            <a:r>
              <a:rPr b="1" i="0" lang="en-US" sz="4800" u="none" cap="none" strike="noStrike">
                <a:solidFill>
                  <a:srgbClr val="38BDF8"/>
                </a:solidFill>
                <a:latin typeface="Urbanist"/>
                <a:ea typeface="Urbanist"/>
                <a:cs typeface="Urbanist"/>
                <a:sym typeface="Urbanist"/>
              </a:rPr>
              <a:t>Adversarial Geometric Distillation</a:t>
            </a:r>
            <a:endParaRPr/>
          </a:p>
        </p:txBody>
      </p:sp>
      <p:sp>
        <p:nvSpPr>
          <p:cNvPr id="86" name="Google Shape;86;p13"/>
          <p:cNvSpPr txBox="1"/>
          <p:nvPr/>
        </p:nvSpPr>
        <p:spPr>
          <a:xfrm>
            <a:off x="1809750" y="3974752"/>
            <a:ext cx="8572500" cy="29706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1800" u="none" cap="none" strike="noStrike">
                <a:solidFill>
                  <a:srgbClr val="CBD5E1"/>
                </a:solidFill>
                <a:latin typeface="Urbanist"/>
                <a:ea typeface="Urbanist"/>
                <a:cs typeface="Urbanist"/>
                <a:sym typeface="Urbanist"/>
              </a:rPr>
              <a:t>Mitigating Hallucinations and the Janus Problem in 3D Model Generation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90" name="Shape 90"/>
        <p:cNvGrpSpPr/>
        <p:nvPr/>
      </p:nvGrpSpPr>
      <p:grpSpPr>
        <a:xfrm>
          <a:off x="0" y="0"/>
          <a:ext cx="0" cy="0"/>
          <a:chOff x="0" y="0"/>
          <a:chExt cx="0" cy="0"/>
        </a:xfrm>
      </p:grpSpPr>
      <p:pic>
        <p:nvPicPr>
          <p:cNvPr descr="image.png" id="91" name="Google Shape;91;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2" name="Google Shape;92;p14"/>
          <p:cNvPicPr preferRelativeResize="0"/>
          <p:nvPr/>
        </p:nvPicPr>
        <p:blipFill rotWithShape="1">
          <a:blip r:embed="rId4">
            <a:alphaModFix/>
          </a:blip>
          <a:srcRect b="0" l="0" r="0" t="0"/>
          <a:stretch/>
        </p:blipFill>
        <p:spPr>
          <a:xfrm>
            <a:off x="6381750" y="1800225"/>
            <a:ext cx="5238750" cy="3810000"/>
          </a:xfrm>
          <a:prstGeom prst="rect">
            <a:avLst/>
          </a:prstGeom>
          <a:noFill/>
          <a:ln>
            <a:noFill/>
          </a:ln>
        </p:spPr>
      </p:pic>
      <p:sp>
        <p:nvSpPr>
          <p:cNvPr id="93" name="Google Shape;93;p14"/>
          <p:cNvSpPr txBox="1"/>
          <p:nvPr/>
        </p:nvSpPr>
        <p:spPr>
          <a:xfrm>
            <a:off x="771525" y="1800225"/>
            <a:ext cx="3810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a:t>
            </a:r>
            <a:endParaRPr/>
          </a:p>
        </p:txBody>
      </p:sp>
      <p:sp>
        <p:nvSpPr>
          <p:cNvPr id="94" name="Google Shape;94;p14"/>
          <p:cNvSpPr txBox="1"/>
          <p:nvPr/>
        </p:nvSpPr>
        <p:spPr>
          <a:xfrm>
            <a:off x="809625" y="1800225"/>
            <a:ext cx="5000625" cy="857250"/>
          </a:xfrm>
          <a:prstGeom prst="rect">
            <a:avLst/>
          </a:prstGeom>
          <a:noFill/>
          <a:ln>
            <a:noFill/>
          </a:ln>
        </p:spPr>
        <p:txBody>
          <a:bodyPr anchorCtr="0" anchor="t" bIns="0" lIns="3810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CBD5E1"/>
                </a:solidFill>
                <a:latin typeface="Urbanist"/>
                <a:ea typeface="Urbanist"/>
                <a:cs typeface="Urbanist"/>
                <a:sym typeface="Urbanist"/>
              </a:rPr>
              <a:t>The field evolved from optimization-based reconstruction to zero-shot synthesis utilizing </a:t>
            </a:r>
            <a:r>
              <a:rPr b="1" i="0" lang="en-US" sz="1500" u="none" cap="none" strike="noStrike">
                <a:solidFill>
                  <a:srgbClr val="CBD5E1"/>
                </a:solidFill>
                <a:latin typeface="Urbanist"/>
                <a:ea typeface="Urbanist"/>
                <a:cs typeface="Urbanist"/>
                <a:sym typeface="Urbanist"/>
              </a:rPr>
              <a:t>Neural Radiance Fields (NeRF)</a:t>
            </a:r>
            <a:r>
              <a:rPr b="0" i="0" lang="en-US" sz="1500" u="none" cap="none" strike="noStrike">
                <a:solidFill>
                  <a:srgbClr val="CBD5E1"/>
                </a:solidFill>
                <a:latin typeface="Urbanist"/>
                <a:ea typeface="Urbanist"/>
                <a:cs typeface="Urbanist"/>
                <a:sym typeface="Urbanist"/>
              </a:rPr>
              <a:t> and </a:t>
            </a:r>
            <a:r>
              <a:rPr b="1" i="0" lang="en-US" sz="1500" u="none" cap="none" strike="noStrike">
                <a:solidFill>
                  <a:srgbClr val="CBD5E1"/>
                </a:solidFill>
                <a:latin typeface="Urbanist"/>
                <a:ea typeface="Urbanist"/>
                <a:cs typeface="Urbanist"/>
                <a:sym typeface="Urbanist"/>
              </a:rPr>
              <a:t>Score Distillation Sampling (SDS)</a:t>
            </a:r>
            <a:r>
              <a:rPr b="0" i="0" lang="en-US" sz="1500" u="none" cap="none" strike="noStrike">
                <a:solidFill>
                  <a:srgbClr val="CBD5E1"/>
                </a:solidFill>
                <a:latin typeface="Urbanist"/>
                <a:ea typeface="Urbanist"/>
                <a:cs typeface="Urbanist"/>
                <a:sym typeface="Urbanist"/>
              </a:rPr>
              <a:t>.</a:t>
            </a:r>
            <a:endParaRPr/>
          </a:p>
        </p:txBody>
      </p:sp>
      <p:sp>
        <p:nvSpPr>
          <p:cNvPr id="95" name="Google Shape;95;p14"/>
          <p:cNvSpPr txBox="1"/>
          <p:nvPr/>
        </p:nvSpPr>
        <p:spPr>
          <a:xfrm>
            <a:off x="771525" y="2847975"/>
            <a:ext cx="3810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a:t>
            </a:r>
            <a:endParaRPr/>
          </a:p>
        </p:txBody>
      </p:sp>
      <p:sp>
        <p:nvSpPr>
          <p:cNvPr id="96" name="Google Shape;96;p14"/>
          <p:cNvSpPr txBox="1"/>
          <p:nvPr/>
        </p:nvSpPr>
        <p:spPr>
          <a:xfrm>
            <a:off x="809625" y="2847975"/>
            <a:ext cx="5000625" cy="571500"/>
          </a:xfrm>
          <a:prstGeom prst="rect">
            <a:avLst/>
          </a:prstGeom>
          <a:noFill/>
          <a:ln>
            <a:noFill/>
          </a:ln>
        </p:spPr>
        <p:txBody>
          <a:bodyPr anchorCtr="0" anchor="t" bIns="0" lIns="3810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CBD5E1"/>
                </a:solidFill>
                <a:latin typeface="Urbanist"/>
                <a:ea typeface="Urbanist"/>
                <a:cs typeface="Urbanist"/>
                <a:sym typeface="Urbanist"/>
              </a:rPr>
              <a:t>SDS utilizes a pretrained 2D diffusion model to provide gradients for a 3D model by minimizing noise differences.</a:t>
            </a:r>
            <a:endParaRPr/>
          </a:p>
        </p:txBody>
      </p:sp>
      <p:sp>
        <p:nvSpPr>
          <p:cNvPr id="97" name="Google Shape;97;p14"/>
          <p:cNvSpPr txBox="1"/>
          <p:nvPr/>
        </p:nvSpPr>
        <p:spPr>
          <a:xfrm>
            <a:off x="771525" y="3609975"/>
            <a:ext cx="3810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a:t>
            </a:r>
            <a:endParaRPr/>
          </a:p>
        </p:txBody>
      </p:sp>
      <p:sp>
        <p:nvSpPr>
          <p:cNvPr id="98" name="Google Shape;98;p14"/>
          <p:cNvSpPr txBox="1"/>
          <p:nvPr/>
        </p:nvSpPr>
        <p:spPr>
          <a:xfrm>
            <a:off x="809625" y="3609975"/>
            <a:ext cx="5000625" cy="857250"/>
          </a:xfrm>
          <a:prstGeom prst="rect">
            <a:avLst/>
          </a:prstGeom>
          <a:noFill/>
          <a:ln>
            <a:noFill/>
          </a:ln>
        </p:spPr>
        <p:txBody>
          <a:bodyPr anchorCtr="0" anchor="t" bIns="0" lIns="3810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CBD5E1"/>
                </a:solidFill>
                <a:latin typeface="Urbanist"/>
                <a:ea typeface="Urbanist"/>
                <a:cs typeface="Urbanist"/>
                <a:sym typeface="Urbanist"/>
              </a:rPr>
              <a:t>While enabling high-fidelity synthesis, these pipelines operate purely in 2D pixel space, missing crucial 3D structural awareness.</a:t>
            </a:r>
            <a:endParaRPr/>
          </a:p>
        </p:txBody>
      </p:sp>
      <p:pic>
        <p:nvPicPr>
          <p:cNvPr descr="image.png" id="99" name="Google Shape;99;p14"/>
          <p:cNvPicPr preferRelativeResize="0"/>
          <p:nvPr/>
        </p:nvPicPr>
        <p:blipFill rotWithShape="1">
          <a:blip r:embed="rId5">
            <a:alphaModFix/>
          </a:blip>
          <a:srcRect b="0" l="0" r="0" t="0"/>
          <a:stretch/>
        </p:blipFill>
        <p:spPr>
          <a:xfrm>
            <a:off x="6391275" y="1809750"/>
            <a:ext cx="5219700" cy="3790950"/>
          </a:xfrm>
          <a:prstGeom prst="rect">
            <a:avLst/>
          </a:prstGeom>
          <a:noFill/>
          <a:ln>
            <a:noFill/>
          </a:ln>
        </p:spPr>
      </p:pic>
      <p:sp>
        <p:nvSpPr>
          <p:cNvPr id="100" name="Google Shape;100;p14"/>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Background: </a:t>
            </a:r>
            <a:r>
              <a:rPr b="1" i="0" lang="en-US" sz="3600" u="none" cap="none" strike="noStrike">
                <a:solidFill>
                  <a:srgbClr val="38BDF8"/>
                </a:solidFill>
                <a:latin typeface="Urbanist"/>
                <a:ea typeface="Urbanist"/>
                <a:cs typeface="Urbanist"/>
                <a:sym typeface="Urbanist"/>
              </a:rPr>
              <a:t>Text-to-3D Synthesis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04" name="Shape 104"/>
        <p:cNvGrpSpPr/>
        <p:nvPr/>
      </p:nvGrpSpPr>
      <p:grpSpPr>
        <a:xfrm>
          <a:off x="0" y="0"/>
          <a:ext cx="0" cy="0"/>
          <a:chOff x="0" y="0"/>
          <a:chExt cx="0" cy="0"/>
        </a:xfrm>
      </p:grpSpPr>
      <p:pic>
        <p:nvPicPr>
          <p:cNvPr descr="image.png" id="105" name="Google Shape;105;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6" name="Google Shape;106;p15"/>
          <p:cNvPicPr preferRelativeResize="0"/>
          <p:nvPr/>
        </p:nvPicPr>
        <p:blipFill rotWithShape="1">
          <a:blip r:embed="rId4">
            <a:alphaModFix/>
          </a:blip>
          <a:srcRect b="0" l="0" r="0" t="0"/>
          <a:stretch/>
        </p:blipFill>
        <p:spPr>
          <a:xfrm>
            <a:off x="6381750" y="1800225"/>
            <a:ext cx="5238750" cy="3810000"/>
          </a:xfrm>
          <a:prstGeom prst="rect">
            <a:avLst/>
          </a:prstGeom>
          <a:noFill/>
          <a:ln>
            <a:noFill/>
          </a:ln>
        </p:spPr>
      </p:pic>
      <p:sp>
        <p:nvSpPr>
          <p:cNvPr id="107" name="Google Shape;107;p15"/>
          <p:cNvSpPr txBox="1"/>
          <p:nvPr/>
        </p:nvSpPr>
        <p:spPr>
          <a:xfrm>
            <a:off x="771525" y="1800225"/>
            <a:ext cx="3810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a:t>
            </a:r>
            <a:endParaRPr/>
          </a:p>
        </p:txBody>
      </p:sp>
      <p:sp>
        <p:nvSpPr>
          <p:cNvPr id="108" name="Google Shape;108;p15"/>
          <p:cNvSpPr txBox="1"/>
          <p:nvPr/>
        </p:nvSpPr>
        <p:spPr>
          <a:xfrm>
            <a:off x="809625" y="1800225"/>
            <a:ext cx="5000625" cy="857250"/>
          </a:xfrm>
          <a:prstGeom prst="rect">
            <a:avLst/>
          </a:prstGeom>
          <a:noFill/>
          <a:ln>
            <a:noFill/>
          </a:ln>
        </p:spPr>
        <p:txBody>
          <a:bodyPr anchorCtr="0" anchor="t" bIns="0" lIns="3810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CBD5E1"/>
                </a:solidFill>
                <a:latin typeface="Urbanist"/>
                <a:ea typeface="Urbanist"/>
                <a:cs typeface="Urbanist"/>
                <a:sym typeface="Urbanist"/>
              </a:rPr>
              <a:t>Mode Collapse:</a:t>
            </a:r>
            <a:r>
              <a:rPr b="0" i="0" lang="en-US" sz="1500" u="none" cap="none" strike="noStrike">
                <a:solidFill>
                  <a:srgbClr val="CBD5E1"/>
                </a:solidFill>
                <a:latin typeface="Urbanist"/>
                <a:ea typeface="Urbanist"/>
                <a:cs typeface="Urbanist"/>
                <a:sym typeface="Urbanist"/>
              </a:rPr>
              <a:t> 2D diffusion models are biased toward frontal views. SDS optimization often settles into these high-probability 2D viewpoints.</a:t>
            </a:r>
            <a:endParaRPr/>
          </a:p>
        </p:txBody>
      </p:sp>
      <p:sp>
        <p:nvSpPr>
          <p:cNvPr id="109" name="Google Shape;109;p15"/>
          <p:cNvSpPr txBox="1"/>
          <p:nvPr/>
        </p:nvSpPr>
        <p:spPr>
          <a:xfrm>
            <a:off x="771525" y="2847975"/>
            <a:ext cx="3810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a:t>
            </a:r>
            <a:endParaRPr/>
          </a:p>
        </p:txBody>
      </p:sp>
      <p:sp>
        <p:nvSpPr>
          <p:cNvPr id="110" name="Google Shape;110;p15"/>
          <p:cNvSpPr txBox="1"/>
          <p:nvPr/>
        </p:nvSpPr>
        <p:spPr>
          <a:xfrm>
            <a:off x="809625" y="2847975"/>
            <a:ext cx="5000625" cy="571500"/>
          </a:xfrm>
          <a:prstGeom prst="rect">
            <a:avLst/>
          </a:prstGeom>
          <a:noFill/>
          <a:ln>
            <a:noFill/>
          </a:ln>
        </p:spPr>
        <p:txBody>
          <a:bodyPr anchorCtr="0" anchor="t" bIns="0" lIns="3810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CBD5E1"/>
                </a:solidFill>
                <a:latin typeface="Urbanist"/>
                <a:ea typeface="Urbanist"/>
                <a:cs typeface="Urbanist"/>
                <a:sym typeface="Urbanist"/>
              </a:rPr>
              <a:t>This creates the </a:t>
            </a:r>
            <a:r>
              <a:rPr b="1" i="0" lang="en-US" sz="1500" u="none" cap="none" strike="noStrike">
                <a:solidFill>
                  <a:srgbClr val="CBD5E1"/>
                </a:solidFill>
                <a:latin typeface="Urbanist"/>
                <a:ea typeface="Urbanist"/>
                <a:cs typeface="Urbanist"/>
                <a:sym typeface="Urbanist"/>
              </a:rPr>
              <a:t>Janus Problem</a:t>
            </a:r>
            <a:r>
              <a:rPr b="0" i="0" lang="en-US" sz="1500" u="none" cap="none" strike="noStrike">
                <a:solidFill>
                  <a:srgbClr val="CBD5E1"/>
                </a:solidFill>
                <a:latin typeface="Urbanist"/>
                <a:ea typeface="Urbanist"/>
                <a:cs typeface="Urbanist"/>
                <a:sym typeface="Urbanist"/>
              </a:rPr>
              <a:t>: generating multi-faced artifacts or redundant limbs on a single object.</a:t>
            </a:r>
            <a:endParaRPr/>
          </a:p>
        </p:txBody>
      </p:sp>
      <p:sp>
        <p:nvSpPr>
          <p:cNvPr id="111" name="Google Shape;111;p15"/>
          <p:cNvSpPr txBox="1"/>
          <p:nvPr/>
        </p:nvSpPr>
        <p:spPr>
          <a:xfrm>
            <a:off x="771525" y="3609975"/>
            <a:ext cx="3810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a:t>
            </a:r>
            <a:endParaRPr/>
          </a:p>
        </p:txBody>
      </p:sp>
      <p:sp>
        <p:nvSpPr>
          <p:cNvPr id="112" name="Google Shape;112;p15"/>
          <p:cNvSpPr txBox="1"/>
          <p:nvPr/>
        </p:nvSpPr>
        <p:spPr>
          <a:xfrm>
            <a:off x="809625" y="3609975"/>
            <a:ext cx="5000625" cy="857250"/>
          </a:xfrm>
          <a:prstGeom prst="rect">
            <a:avLst/>
          </a:prstGeom>
          <a:noFill/>
          <a:ln>
            <a:noFill/>
          </a:ln>
        </p:spPr>
        <p:txBody>
          <a:bodyPr anchorCtr="0" anchor="t" bIns="0" lIns="3810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CBD5E1"/>
                </a:solidFill>
                <a:latin typeface="Urbanist"/>
                <a:ea typeface="Urbanist"/>
                <a:cs typeface="Urbanist"/>
                <a:sym typeface="Urbanist"/>
              </a:rPr>
              <a:t>Other topological errors include floating components (Betti number &gt; 1), unintended handles (genus &gt; 0), and disconnected geometry.</a:t>
            </a:r>
            <a:endParaRPr/>
          </a:p>
        </p:txBody>
      </p:sp>
      <p:sp>
        <p:nvSpPr>
          <p:cNvPr id="113" name="Google Shape;113;p15"/>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The </a:t>
            </a:r>
            <a:r>
              <a:rPr b="1" i="0" lang="en-US" sz="3600" u="none" cap="none" strike="noStrike">
                <a:solidFill>
                  <a:srgbClr val="38BDF8"/>
                </a:solidFill>
                <a:latin typeface="Urbanist"/>
                <a:ea typeface="Urbanist"/>
                <a:cs typeface="Urbanist"/>
                <a:sym typeface="Urbanist"/>
              </a:rPr>
              <a:t>Janus Problem</a:t>
            </a:r>
            <a:r>
              <a:rPr b="1" i="0" lang="en-US" sz="3600" u="none" cap="none" strike="noStrike">
                <a:solidFill>
                  <a:srgbClr val="F8FAFC"/>
                </a:solidFill>
                <a:latin typeface="Urbanist"/>
                <a:ea typeface="Urbanist"/>
                <a:cs typeface="Urbanist"/>
                <a:sym typeface="Urbanist"/>
              </a:rPr>
              <a:t> &amp; Hallucinations</a:t>
            </a:r>
            <a:endParaRPr/>
          </a:p>
        </p:txBody>
      </p:sp>
      <p:pic>
        <p:nvPicPr>
          <p:cNvPr id="114" name="Google Shape;114;p15"/>
          <p:cNvPicPr preferRelativeResize="0"/>
          <p:nvPr/>
        </p:nvPicPr>
        <p:blipFill>
          <a:blip r:embed="rId5">
            <a:alphaModFix/>
          </a:blip>
          <a:stretch>
            <a:fillRect/>
          </a:stretch>
        </p:blipFill>
        <p:spPr>
          <a:xfrm>
            <a:off x="6492225" y="1984025"/>
            <a:ext cx="4834675" cy="34609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18" name="Shape 118"/>
        <p:cNvGrpSpPr/>
        <p:nvPr/>
      </p:nvGrpSpPr>
      <p:grpSpPr>
        <a:xfrm>
          <a:off x="0" y="0"/>
          <a:ext cx="0" cy="0"/>
          <a:chOff x="0" y="0"/>
          <a:chExt cx="0" cy="0"/>
        </a:xfrm>
      </p:grpSpPr>
      <p:pic>
        <p:nvPicPr>
          <p:cNvPr descr="image.png" id="119" name="Google Shape;119;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0" name="Google Shape;120;p16"/>
          <p:cNvPicPr preferRelativeResize="0"/>
          <p:nvPr/>
        </p:nvPicPr>
        <p:blipFill rotWithShape="1">
          <a:blip r:embed="rId4">
            <a:alphaModFix/>
          </a:blip>
          <a:srcRect b="0" l="0" r="0" t="0"/>
          <a:stretch/>
        </p:blipFill>
        <p:spPr>
          <a:xfrm>
            <a:off x="571500" y="2209800"/>
            <a:ext cx="3492549" cy="2990850"/>
          </a:xfrm>
          <a:prstGeom prst="rect">
            <a:avLst/>
          </a:prstGeom>
          <a:noFill/>
          <a:ln>
            <a:noFill/>
          </a:ln>
        </p:spPr>
      </p:pic>
      <p:pic>
        <p:nvPicPr>
          <p:cNvPr descr="image.png" id="121" name="Google Shape;121;p16"/>
          <p:cNvPicPr preferRelativeResize="0"/>
          <p:nvPr/>
        </p:nvPicPr>
        <p:blipFill rotWithShape="1">
          <a:blip r:embed="rId5">
            <a:alphaModFix/>
          </a:blip>
          <a:srcRect b="0" l="0" r="0" t="0"/>
          <a:stretch/>
        </p:blipFill>
        <p:spPr>
          <a:xfrm>
            <a:off x="4349799" y="2209800"/>
            <a:ext cx="3492549" cy="2990850"/>
          </a:xfrm>
          <a:prstGeom prst="rect">
            <a:avLst/>
          </a:prstGeom>
          <a:noFill/>
          <a:ln>
            <a:noFill/>
          </a:ln>
        </p:spPr>
      </p:pic>
      <p:pic>
        <p:nvPicPr>
          <p:cNvPr descr="image.png" id="122" name="Google Shape;122;p16"/>
          <p:cNvPicPr preferRelativeResize="0"/>
          <p:nvPr/>
        </p:nvPicPr>
        <p:blipFill rotWithShape="1">
          <a:blip r:embed="rId6">
            <a:alphaModFix/>
          </a:blip>
          <a:srcRect b="0" l="0" r="0" t="0"/>
          <a:stretch/>
        </p:blipFill>
        <p:spPr>
          <a:xfrm>
            <a:off x="8128099" y="2209800"/>
            <a:ext cx="3492549" cy="2990850"/>
          </a:xfrm>
          <a:prstGeom prst="rect">
            <a:avLst/>
          </a:prstGeom>
          <a:noFill/>
          <a:ln>
            <a:noFill/>
          </a:ln>
        </p:spPr>
      </p:pic>
      <p:sp>
        <p:nvSpPr>
          <p:cNvPr id="123" name="Google Shape;123;p16"/>
          <p:cNvSpPr txBox="1"/>
          <p:nvPr/>
        </p:nvSpPr>
        <p:spPr>
          <a:xfrm>
            <a:off x="967531" y="3152775"/>
            <a:ext cx="2700337"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38BDF8"/>
                </a:solidFill>
                <a:latin typeface="Urbanist Medium"/>
                <a:ea typeface="Urbanist Medium"/>
                <a:cs typeface="Urbanist Medium"/>
                <a:sym typeface="Urbanist Medium"/>
              </a:rPr>
              <a:t>Magic3D / Fantasia3D</a:t>
            </a:r>
            <a:endParaRPr/>
          </a:p>
        </p:txBody>
      </p:sp>
      <p:sp>
        <p:nvSpPr>
          <p:cNvPr id="124" name="Google Shape;124;p16"/>
          <p:cNvSpPr txBox="1"/>
          <p:nvPr/>
        </p:nvSpPr>
        <p:spPr>
          <a:xfrm>
            <a:off x="771525" y="3619500"/>
            <a:ext cx="3092499" cy="11430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CBD5E1"/>
                </a:solidFill>
                <a:latin typeface="Urbanist"/>
                <a:ea typeface="Urbanist"/>
                <a:cs typeface="Urbanist"/>
                <a:sym typeface="Urbanist"/>
              </a:rPr>
              <a:t>Focuses on high-res geometry and disentangling appearance. However, the generative priors remain fundamentally "geometry blind".</a:t>
            </a:r>
            <a:endParaRPr/>
          </a:p>
        </p:txBody>
      </p:sp>
      <p:sp>
        <p:nvSpPr>
          <p:cNvPr id="125" name="Google Shape;125;p16"/>
          <p:cNvSpPr txBox="1"/>
          <p:nvPr/>
        </p:nvSpPr>
        <p:spPr>
          <a:xfrm>
            <a:off x="4515802" y="3152775"/>
            <a:ext cx="3160395"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38BDF8"/>
                </a:solidFill>
                <a:latin typeface="Urbanist Medium"/>
                <a:ea typeface="Urbanist Medium"/>
                <a:cs typeface="Urbanist Medium"/>
                <a:sym typeface="Urbanist Medium"/>
              </a:rPr>
              <a:t>Perp-Neg &amp; Entropic SDS</a:t>
            </a:r>
            <a:endParaRPr/>
          </a:p>
        </p:txBody>
      </p:sp>
      <p:sp>
        <p:nvSpPr>
          <p:cNvPr id="126" name="Google Shape;126;p16"/>
          <p:cNvSpPr txBox="1"/>
          <p:nvPr/>
        </p:nvSpPr>
        <p:spPr>
          <a:xfrm>
            <a:off x="4549824" y="3619500"/>
            <a:ext cx="3092499" cy="11430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CBD5E1"/>
                </a:solidFill>
                <a:latin typeface="Urbanist"/>
                <a:ea typeface="Urbanist"/>
                <a:cs typeface="Urbanist"/>
                <a:sym typeface="Urbanist"/>
              </a:rPr>
              <a:t>Attempt mathematical debiasing in score-space, but fail to explicitly understand if the output structure is anatomically correct.</a:t>
            </a:r>
            <a:endParaRPr/>
          </a:p>
        </p:txBody>
      </p:sp>
      <p:sp>
        <p:nvSpPr>
          <p:cNvPr id="127" name="Google Shape;127;p16"/>
          <p:cNvSpPr txBox="1"/>
          <p:nvPr/>
        </p:nvSpPr>
        <p:spPr>
          <a:xfrm>
            <a:off x="9399240" y="3152775"/>
            <a:ext cx="950118"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38BDF8"/>
                </a:solidFill>
                <a:latin typeface="Urbanist Medium"/>
                <a:ea typeface="Urbanist Medium"/>
                <a:cs typeface="Urbanist Medium"/>
                <a:sym typeface="Urbanist Medium"/>
              </a:rPr>
              <a:t>Hallo3D</a:t>
            </a:r>
            <a:endParaRPr/>
          </a:p>
        </p:txBody>
      </p:sp>
      <p:sp>
        <p:nvSpPr>
          <p:cNvPr id="128" name="Google Shape;128;p16"/>
          <p:cNvSpPr txBox="1"/>
          <p:nvPr/>
        </p:nvSpPr>
        <p:spPr>
          <a:xfrm>
            <a:off x="8328124" y="3619500"/>
            <a:ext cx="3092499" cy="11430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CBD5E1"/>
                </a:solidFill>
                <a:latin typeface="Urbanist"/>
                <a:ea typeface="Urbanist"/>
                <a:cs typeface="Urbanist"/>
                <a:sym typeface="Urbanist"/>
              </a:rPr>
              <a:t>Introduces multimodal detection. Converts spatial errors into textual feedback ("negative prompts"), losing critical spatial precision.</a:t>
            </a:r>
            <a:endParaRPr/>
          </a:p>
        </p:txBody>
      </p:sp>
      <p:pic>
        <p:nvPicPr>
          <p:cNvPr descr="image.png" id="129" name="Google Shape;129;p16"/>
          <p:cNvPicPr preferRelativeResize="0"/>
          <p:nvPr/>
        </p:nvPicPr>
        <p:blipFill rotWithShape="1">
          <a:blip r:embed="rId7">
            <a:alphaModFix/>
          </a:blip>
          <a:srcRect b="0" l="0" r="0" t="0"/>
          <a:stretch/>
        </p:blipFill>
        <p:spPr>
          <a:xfrm>
            <a:off x="2127200" y="2533650"/>
            <a:ext cx="381000" cy="381000"/>
          </a:xfrm>
          <a:prstGeom prst="rect">
            <a:avLst/>
          </a:prstGeom>
          <a:noFill/>
          <a:ln>
            <a:noFill/>
          </a:ln>
        </p:spPr>
      </p:pic>
      <p:pic>
        <p:nvPicPr>
          <p:cNvPr descr="image.png" id="130" name="Google Shape;130;p16"/>
          <p:cNvPicPr preferRelativeResize="0"/>
          <p:nvPr/>
        </p:nvPicPr>
        <p:blipFill rotWithShape="1">
          <a:blip r:embed="rId8">
            <a:alphaModFix/>
          </a:blip>
          <a:srcRect b="0" l="0" r="0" t="0"/>
          <a:stretch/>
        </p:blipFill>
        <p:spPr>
          <a:xfrm>
            <a:off x="5857875" y="2533650"/>
            <a:ext cx="476250" cy="381000"/>
          </a:xfrm>
          <a:prstGeom prst="rect">
            <a:avLst/>
          </a:prstGeom>
          <a:noFill/>
          <a:ln>
            <a:noFill/>
          </a:ln>
        </p:spPr>
      </p:pic>
      <p:pic>
        <p:nvPicPr>
          <p:cNvPr descr="image.png" id="131" name="Google Shape;131;p16"/>
          <p:cNvPicPr preferRelativeResize="0"/>
          <p:nvPr/>
        </p:nvPicPr>
        <p:blipFill rotWithShape="1">
          <a:blip r:embed="rId9">
            <a:alphaModFix/>
          </a:blip>
          <a:srcRect b="0" l="0" r="0" t="0"/>
          <a:stretch/>
        </p:blipFill>
        <p:spPr>
          <a:xfrm>
            <a:off x="9636174" y="2533650"/>
            <a:ext cx="476250" cy="381000"/>
          </a:xfrm>
          <a:prstGeom prst="rect">
            <a:avLst/>
          </a:prstGeom>
          <a:noFill/>
          <a:ln>
            <a:noFill/>
          </a:ln>
        </p:spPr>
      </p:pic>
      <p:sp>
        <p:nvSpPr>
          <p:cNvPr id="132" name="Google Shape;132;p16"/>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Literature Review: </a:t>
            </a:r>
            <a:r>
              <a:rPr b="1" i="0" lang="en-US" sz="3600" u="none" cap="none" strike="noStrike">
                <a:solidFill>
                  <a:srgbClr val="38BDF8"/>
                </a:solidFill>
                <a:latin typeface="Urbanist"/>
                <a:ea typeface="Urbanist"/>
                <a:cs typeface="Urbanist"/>
                <a:sym typeface="Urbanist"/>
              </a:rPr>
              <a:t>SOTA Limitations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36" name="Shape 136"/>
        <p:cNvGrpSpPr/>
        <p:nvPr/>
      </p:nvGrpSpPr>
      <p:grpSpPr>
        <a:xfrm>
          <a:off x="0" y="0"/>
          <a:ext cx="0" cy="0"/>
          <a:chOff x="0" y="0"/>
          <a:chExt cx="0" cy="0"/>
        </a:xfrm>
      </p:grpSpPr>
      <p:pic>
        <p:nvPicPr>
          <p:cNvPr descr="image.png" id="137" name="Google Shape;137;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38" name="Google Shape;138;p17"/>
          <p:cNvPicPr preferRelativeResize="0"/>
          <p:nvPr/>
        </p:nvPicPr>
        <p:blipFill rotWithShape="1">
          <a:blip r:embed="rId4">
            <a:alphaModFix/>
          </a:blip>
          <a:srcRect b="0" l="0" r="0" t="0"/>
          <a:stretch/>
        </p:blipFill>
        <p:spPr>
          <a:xfrm>
            <a:off x="571500" y="2438400"/>
            <a:ext cx="5238750" cy="2533650"/>
          </a:xfrm>
          <a:prstGeom prst="rect">
            <a:avLst/>
          </a:prstGeom>
          <a:noFill/>
          <a:ln>
            <a:noFill/>
          </a:ln>
        </p:spPr>
      </p:pic>
      <p:pic>
        <p:nvPicPr>
          <p:cNvPr descr="image.png" id="139" name="Google Shape;139;p17"/>
          <p:cNvPicPr preferRelativeResize="0"/>
          <p:nvPr/>
        </p:nvPicPr>
        <p:blipFill rotWithShape="1">
          <a:blip r:embed="rId5">
            <a:alphaModFix/>
          </a:blip>
          <a:srcRect b="0" l="0" r="0" t="0"/>
          <a:stretch/>
        </p:blipFill>
        <p:spPr>
          <a:xfrm>
            <a:off x="6381750" y="2438400"/>
            <a:ext cx="5238750" cy="2533650"/>
          </a:xfrm>
          <a:prstGeom prst="rect">
            <a:avLst/>
          </a:prstGeom>
          <a:noFill/>
          <a:ln>
            <a:noFill/>
          </a:ln>
        </p:spPr>
      </p:pic>
      <p:sp>
        <p:nvSpPr>
          <p:cNvPr id="140" name="Google Shape;140;p17"/>
          <p:cNvSpPr txBox="1"/>
          <p:nvPr/>
        </p:nvSpPr>
        <p:spPr>
          <a:xfrm>
            <a:off x="866775" y="2828925"/>
            <a:ext cx="4880610"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38BDF8"/>
                </a:solidFill>
                <a:latin typeface="Urbanist Medium"/>
                <a:ea typeface="Urbanist Medium"/>
                <a:cs typeface="Urbanist Medium"/>
                <a:sym typeface="Urbanist Medium"/>
              </a:rPr>
              <a:t>1. Geometry Blindness</a:t>
            </a:r>
            <a:endParaRPr/>
          </a:p>
        </p:txBody>
      </p:sp>
      <p:sp>
        <p:nvSpPr>
          <p:cNvPr id="141" name="Google Shape;141;p17"/>
          <p:cNvSpPr txBox="1"/>
          <p:nvPr/>
        </p:nvSpPr>
        <p:spPr>
          <a:xfrm>
            <a:off x="866775" y="3295650"/>
            <a:ext cx="4648200" cy="1143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CBD5E1"/>
                </a:solidFill>
                <a:latin typeface="Urbanist"/>
                <a:ea typeface="Urbanist"/>
                <a:cs typeface="Urbanist"/>
                <a:sym typeface="Urbanist"/>
              </a:rPr>
              <a:t>The optimization objective for 3D generation lacks a geometric energy term defined directly on the mesh's topological and spectral properties. Gradients reshape 2D pixels, not 3D manifolds.</a:t>
            </a:r>
            <a:endParaRPr/>
          </a:p>
        </p:txBody>
      </p:sp>
      <p:sp>
        <p:nvSpPr>
          <p:cNvPr id="142" name="Google Shape;142;p17"/>
          <p:cNvSpPr txBox="1"/>
          <p:nvPr/>
        </p:nvSpPr>
        <p:spPr>
          <a:xfrm>
            <a:off x="6677025" y="2828925"/>
            <a:ext cx="4880610"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38BDF8"/>
                </a:solidFill>
                <a:latin typeface="Urbanist Medium"/>
                <a:ea typeface="Urbanist Medium"/>
                <a:cs typeface="Urbanist Medium"/>
                <a:sym typeface="Urbanist Medium"/>
              </a:rPr>
              <a:t>2. The Semantic Bottleneck</a:t>
            </a:r>
            <a:endParaRPr/>
          </a:p>
        </p:txBody>
      </p:sp>
      <p:sp>
        <p:nvSpPr>
          <p:cNvPr id="143" name="Google Shape;143;p17"/>
          <p:cNvSpPr txBox="1"/>
          <p:nvPr/>
        </p:nvSpPr>
        <p:spPr>
          <a:xfrm>
            <a:off x="6677025" y="3295650"/>
            <a:ext cx="4648200" cy="1143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CBD5E1"/>
                </a:solidFill>
                <a:latin typeface="Urbanist"/>
                <a:ea typeface="Urbanist"/>
                <a:cs typeface="Urbanist"/>
                <a:sym typeface="Urbanist"/>
              </a:rPr>
              <a:t>Frameworks like Hallo3D map spatial hallucinations into natural language. This many-to-one lossy compression discards exact vertex coordinates, leading to over-correction or new artifacts.</a:t>
            </a:r>
            <a:endParaRPr/>
          </a:p>
        </p:txBody>
      </p:sp>
      <p:sp>
        <p:nvSpPr>
          <p:cNvPr id="144" name="Google Shape;144;p17"/>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Defining the </a:t>
            </a:r>
            <a:r>
              <a:rPr b="1" i="0" lang="en-US" sz="3600" u="none" cap="none" strike="noStrike">
                <a:solidFill>
                  <a:srgbClr val="38BDF8"/>
                </a:solidFill>
                <a:latin typeface="Urbanist"/>
                <a:ea typeface="Urbanist"/>
                <a:cs typeface="Urbanist"/>
                <a:sym typeface="Urbanist"/>
              </a:rPr>
              <a:t>Research Gap</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48" name="Shape 148"/>
        <p:cNvGrpSpPr/>
        <p:nvPr/>
      </p:nvGrpSpPr>
      <p:grpSpPr>
        <a:xfrm>
          <a:off x="0" y="0"/>
          <a:ext cx="0" cy="0"/>
          <a:chOff x="0" y="0"/>
          <a:chExt cx="0" cy="0"/>
        </a:xfrm>
      </p:grpSpPr>
      <p:pic>
        <p:nvPicPr>
          <p:cNvPr descr="image.png" id="149" name="Google Shape;149;p1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50" name="Google Shape;150;p18"/>
          <p:cNvSpPr/>
          <p:nvPr/>
        </p:nvSpPr>
        <p:spPr>
          <a:xfrm>
            <a:off x="1095375" y="600075"/>
            <a:ext cx="10001250" cy="1314450"/>
          </a:xfrm>
          <a:prstGeom prst="roundRect">
            <a:avLst>
              <a:gd fmla="val 5797" name="adj"/>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18"/>
          <p:cNvSpPr txBox="1"/>
          <p:nvPr/>
        </p:nvSpPr>
        <p:spPr>
          <a:xfrm>
            <a:off x="1762125" y="790575"/>
            <a:ext cx="9144000" cy="9334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F8FAFC"/>
                </a:solidFill>
                <a:latin typeface="Urbanist"/>
                <a:ea typeface="Urbanist"/>
                <a:cs typeface="Urbanist"/>
                <a:sym typeface="Urbanist"/>
              </a:rPr>
              <a:t>1. Literature Review</a:t>
            </a:r>
            <a:r>
              <a:rPr b="0" i="0" lang="en-US" sz="1500" u="none" cap="none" strike="noStrike">
                <a:solidFill>
                  <a:srgbClr val="CBD5E1"/>
                </a:solidFill>
                <a:latin typeface="Urbanist"/>
                <a:ea typeface="Urbanist"/>
                <a:cs typeface="Urbanist"/>
                <a:sym typeface="Urbanist"/>
              </a:rPr>
              <a:t> Analyze the evolution of geometric hallucinations and how specific topological errors manifest in modern generative 3D models.</a:t>
            </a:r>
            <a:endParaRPr/>
          </a:p>
        </p:txBody>
      </p:sp>
      <p:sp>
        <p:nvSpPr>
          <p:cNvPr id="152" name="Google Shape;152;p18"/>
          <p:cNvSpPr/>
          <p:nvPr/>
        </p:nvSpPr>
        <p:spPr>
          <a:xfrm>
            <a:off x="1095375" y="600075"/>
            <a:ext cx="38100" cy="131445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3" name="Google Shape;153;p18"/>
          <p:cNvSpPr/>
          <p:nvPr/>
        </p:nvSpPr>
        <p:spPr>
          <a:xfrm>
            <a:off x="1095375" y="2152650"/>
            <a:ext cx="10001250" cy="1314450"/>
          </a:xfrm>
          <a:prstGeom prst="roundRect">
            <a:avLst>
              <a:gd fmla="val 5797" name="adj"/>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 name="Google Shape;154;p18"/>
          <p:cNvSpPr txBox="1"/>
          <p:nvPr/>
        </p:nvSpPr>
        <p:spPr>
          <a:xfrm>
            <a:off x="1762125" y="2343150"/>
            <a:ext cx="9144000" cy="9334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F8FAFC"/>
                </a:solidFill>
                <a:latin typeface="Urbanist"/>
                <a:ea typeface="Urbanist"/>
                <a:cs typeface="Urbanist"/>
                <a:sym typeface="Urbanist"/>
              </a:rPr>
              <a:t>2. Method Study</a:t>
            </a:r>
            <a:r>
              <a:rPr b="0" i="0" lang="en-US" sz="1500" u="none" cap="none" strike="noStrike">
                <a:solidFill>
                  <a:srgbClr val="CBD5E1"/>
                </a:solidFill>
                <a:latin typeface="Urbanist"/>
                <a:ea typeface="Urbanist"/>
                <a:cs typeface="Urbanist"/>
                <a:sym typeface="Urbanist"/>
              </a:rPr>
              <a:t> Examine adversarial neural networks and self-distillation technologies used for automated artifact detection and mesh refinement.</a:t>
            </a:r>
            <a:endParaRPr/>
          </a:p>
        </p:txBody>
      </p:sp>
      <p:sp>
        <p:nvSpPr>
          <p:cNvPr id="155" name="Google Shape;155;p18"/>
          <p:cNvSpPr/>
          <p:nvPr/>
        </p:nvSpPr>
        <p:spPr>
          <a:xfrm>
            <a:off x="1095375" y="2152650"/>
            <a:ext cx="38100" cy="131445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6" name="Google Shape;156;p18"/>
          <p:cNvSpPr/>
          <p:nvPr/>
        </p:nvSpPr>
        <p:spPr>
          <a:xfrm>
            <a:off x="1095375" y="3705225"/>
            <a:ext cx="10001250" cy="1314450"/>
          </a:xfrm>
          <a:prstGeom prst="roundRect">
            <a:avLst>
              <a:gd fmla="val 5797" name="adj"/>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7" name="Google Shape;157;p18"/>
          <p:cNvSpPr txBox="1"/>
          <p:nvPr/>
        </p:nvSpPr>
        <p:spPr>
          <a:xfrm>
            <a:off x="1762125" y="3895725"/>
            <a:ext cx="9144000" cy="9334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F8FAFC"/>
                </a:solidFill>
                <a:latin typeface="Urbanist"/>
                <a:ea typeface="Urbanist"/>
                <a:cs typeface="Urbanist"/>
                <a:sym typeface="Urbanist"/>
              </a:rPr>
              <a:t>3. System Design</a:t>
            </a:r>
            <a:r>
              <a:rPr b="0" i="0" lang="en-US" sz="1500" u="none" cap="none" strike="noStrike">
                <a:solidFill>
                  <a:srgbClr val="CBD5E1"/>
                </a:solidFill>
                <a:latin typeface="Urbanist"/>
                <a:ea typeface="Urbanist"/>
                <a:cs typeface="Urbanist"/>
                <a:sym typeface="Urbanist"/>
              </a:rPr>
              <a:t> Develop an Adversarial Geometric Distillation (AGD) framework that integrates an auxiliary AI critic to correct 3D anomalies without text prompts.</a:t>
            </a:r>
            <a:endParaRPr/>
          </a:p>
        </p:txBody>
      </p:sp>
      <p:sp>
        <p:nvSpPr>
          <p:cNvPr id="158" name="Google Shape;158;p18"/>
          <p:cNvSpPr/>
          <p:nvPr/>
        </p:nvSpPr>
        <p:spPr>
          <a:xfrm>
            <a:off x="1095375" y="3705225"/>
            <a:ext cx="38100" cy="131445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9" name="Google Shape;159;p18"/>
          <p:cNvSpPr/>
          <p:nvPr/>
        </p:nvSpPr>
        <p:spPr>
          <a:xfrm>
            <a:off x="1095375" y="5257800"/>
            <a:ext cx="10001250" cy="1314450"/>
          </a:xfrm>
          <a:prstGeom prst="roundRect">
            <a:avLst>
              <a:gd fmla="val 5797" name="adj"/>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0" name="Google Shape;160;p18"/>
          <p:cNvSpPr txBox="1"/>
          <p:nvPr/>
        </p:nvSpPr>
        <p:spPr>
          <a:xfrm>
            <a:off x="1762125" y="5448300"/>
            <a:ext cx="9144000" cy="9334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F8FAFC"/>
                </a:solidFill>
                <a:latin typeface="Urbanist"/>
                <a:ea typeface="Urbanist"/>
                <a:cs typeface="Urbanist"/>
                <a:sym typeface="Urbanist"/>
              </a:rPr>
              <a:t>4. Evaluation</a:t>
            </a:r>
            <a:r>
              <a:rPr b="0" i="0" lang="en-US" sz="1500" u="none" cap="none" strike="noStrike">
                <a:solidFill>
                  <a:srgbClr val="CBD5E1"/>
                </a:solidFill>
                <a:latin typeface="Urbanist"/>
                <a:ea typeface="Urbanist"/>
                <a:cs typeface="Urbanist"/>
                <a:sym typeface="Urbanist"/>
              </a:rPr>
              <a:t> Assess performance using quantitative geometric metrics (surface smoothness, manifold quality) against baseline SOTA models.</a:t>
            </a:r>
            <a:endParaRPr/>
          </a:p>
        </p:txBody>
      </p:sp>
      <p:sp>
        <p:nvSpPr>
          <p:cNvPr id="161" name="Google Shape;161;p18"/>
          <p:cNvSpPr/>
          <p:nvPr/>
        </p:nvSpPr>
        <p:spPr>
          <a:xfrm>
            <a:off x="1095375" y="5257800"/>
            <a:ext cx="38100" cy="131445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62" name="Google Shape;162;p18"/>
          <p:cNvPicPr preferRelativeResize="0"/>
          <p:nvPr/>
        </p:nvPicPr>
        <p:blipFill rotWithShape="1">
          <a:blip r:embed="rId4">
            <a:alphaModFix/>
          </a:blip>
          <a:srcRect b="0" l="0" r="0" t="0"/>
          <a:stretch/>
        </p:blipFill>
        <p:spPr>
          <a:xfrm>
            <a:off x="1323975" y="800100"/>
            <a:ext cx="257175" cy="247650"/>
          </a:xfrm>
          <a:prstGeom prst="rect">
            <a:avLst/>
          </a:prstGeom>
          <a:noFill/>
          <a:ln>
            <a:noFill/>
          </a:ln>
        </p:spPr>
      </p:pic>
      <p:pic>
        <p:nvPicPr>
          <p:cNvPr descr="image.png" id="163" name="Google Shape;163;p18"/>
          <p:cNvPicPr preferRelativeResize="0"/>
          <p:nvPr/>
        </p:nvPicPr>
        <p:blipFill rotWithShape="1">
          <a:blip r:embed="rId5">
            <a:alphaModFix/>
          </a:blip>
          <a:srcRect b="0" l="0" r="0" t="0"/>
          <a:stretch/>
        </p:blipFill>
        <p:spPr>
          <a:xfrm>
            <a:off x="1323975" y="2352675"/>
            <a:ext cx="228600" cy="247650"/>
          </a:xfrm>
          <a:prstGeom prst="rect">
            <a:avLst/>
          </a:prstGeom>
          <a:noFill/>
          <a:ln>
            <a:noFill/>
          </a:ln>
        </p:spPr>
      </p:pic>
      <p:pic>
        <p:nvPicPr>
          <p:cNvPr descr="image.png" id="164" name="Google Shape;164;p18"/>
          <p:cNvPicPr preferRelativeResize="0"/>
          <p:nvPr/>
        </p:nvPicPr>
        <p:blipFill rotWithShape="1">
          <a:blip r:embed="rId6">
            <a:alphaModFix/>
          </a:blip>
          <a:srcRect b="0" l="0" r="0" t="0"/>
          <a:stretch/>
        </p:blipFill>
        <p:spPr>
          <a:xfrm>
            <a:off x="1323975" y="3905250"/>
            <a:ext cx="257175" cy="247650"/>
          </a:xfrm>
          <a:prstGeom prst="rect">
            <a:avLst/>
          </a:prstGeom>
          <a:noFill/>
          <a:ln>
            <a:noFill/>
          </a:ln>
        </p:spPr>
      </p:pic>
      <p:pic>
        <p:nvPicPr>
          <p:cNvPr descr="image.png" id="165" name="Google Shape;165;p18"/>
          <p:cNvPicPr preferRelativeResize="0"/>
          <p:nvPr/>
        </p:nvPicPr>
        <p:blipFill rotWithShape="1">
          <a:blip r:embed="rId7">
            <a:alphaModFix/>
          </a:blip>
          <a:srcRect b="0" l="0" r="0" t="0"/>
          <a:stretch/>
        </p:blipFill>
        <p:spPr>
          <a:xfrm>
            <a:off x="1323975" y="5457825"/>
            <a:ext cx="228600" cy="247650"/>
          </a:xfrm>
          <a:prstGeom prst="rect">
            <a:avLst/>
          </a:prstGeom>
          <a:noFill/>
          <a:ln>
            <a:noFill/>
          </a:ln>
        </p:spPr>
      </p:pic>
      <p:sp>
        <p:nvSpPr>
          <p:cNvPr id="166" name="Google Shape;166;p18"/>
          <p:cNvSpPr txBox="1"/>
          <p:nvPr/>
        </p:nvSpPr>
        <p:spPr>
          <a:xfrm>
            <a:off x="571500" y="47625"/>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Research </a:t>
            </a:r>
            <a:r>
              <a:rPr b="1" i="0" lang="en-US" sz="3600" u="none" cap="none" strike="noStrike">
                <a:solidFill>
                  <a:srgbClr val="38BDF8"/>
                </a:solidFill>
                <a:latin typeface="Urbanist"/>
                <a:ea typeface="Urbanist"/>
                <a:cs typeface="Urbanist"/>
                <a:sym typeface="Urbanist"/>
              </a:rPr>
              <a:t>Objectives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70" name="Shape 170"/>
        <p:cNvGrpSpPr/>
        <p:nvPr/>
      </p:nvGrpSpPr>
      <p:grpSpPr>
        <a:xfrm>
          <a:off x="0" y="0"/>
          <a:ext cx="0" cy="0"/>
          <a:chOff x="0" y="0"/>
          <a:chExt cx="0" cy="0"/>
        </a:xfrm>
      </p:grpSpPr>
      <p:pic>
        <p:nvPicPr>
          <p:cNvPr descr="image.png" id="171" name="Google Shape;171;p1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72" name="Google Shape;172;p19"/>
          <p:cNvSpPr/>
          <p:nvPr/>
        </p:nvSpPr>
        <p:spPr>
          <a:xfrm>
            <a:off x="5524500" y="2457450"/>
            <a:ext cx="1143000" cy="3810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3" name="Google Shape;173;p19"/>
          <p:cNvSpPr txBox="1"/>
          <p:nvPr/>
        </p:nvSpPr>
        <p:spPr>
          <a:xfrm>
            <a:off x="3350656" y="2781300"/>
            <a:ext cx="5490686" cy="685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500" u="none" cap="none" strike="noStrike">
                <a:solidFill>
                  <a:srgbClr val="F8FAFC"/>
                </a:solidFill>
                <a:latin typeface="Urbanist"/>
                <a:ea typeface="Urbanist"/>
                <a:cs typeface="Urbanist"/>
                <a:sym typeface="Urbanist"/>
              </a:rPr>
              <a:t>The </a:t>
            </a:r>
            <a:r>
              <a:rPr b="1" i="0" lang="en-US" sz="4500" u="none" cap="none" strike="noStrike">
                <a:solidFill>
                  <a:srgbClr val="38BDF8"/>
                </a:solidFill>
                <a:latin typeface="Urbanist"/>
                <a:ea typeface="Urbanist"/>
                <a:cs typeface="Urbanist"/>
                <a:sym typeface="Urbanist"/>
              </a:rPr>
              <a:t>AGD Hypothesis</a:t>
            </a:r>
            <a:endParaRPr/>
          </a:p>
        </p:txBody>
      </p:sp>
      <p:sp>
        <p:nvSpPr>
          <p:cNvPr id="174" name="Google Shape;174;p19"/>
          <p:cNvSpPr txBox="1"/>
          <p:nvPr/>
        </p:nvSpPr>
        <p:spPr>
          <a:xfrm>
            <a:off x="2286000" y="3657600"/>
            <a:ext cx="7620000" cy="10287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800" u="none" cap="none" strike="noStrike">
                <a:solidFill>
                  <a:srgbClr val="CBD5E1"/>
                </a:solidFill>
                <a:latin typeface="Urbanist"/>
                <a:ea typeface="Urbanist"/>
                <a:cs typeface="Urbanist"/>
                <a:sym typeface="Urbanist"/>
              </a:rPr>
              <a:t>Replacing imprecise textual feedback with direct geometric grounding will eliminate structural inconsistencies and ensure exact topological integrity in zero-shot synthesis.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78" name="Shape 178"/>
        <p:cNvGrpSpPr/>
        <p:nvPr/>
      </p:nvGrpSpPr>
      <p:grpSpPr>
        <a:xfrm>
          <a:off x="0" y="0"/>
          <a:ext cx="0" cy="0"/>
          <a:chOff x="0" y="0"/>
          <a:chExt cx="0" cy="0"/>
        </a:xfrm>
      </p:grpSpPr>
      <p:pic>
        <p:nvPicPr>
          <p:cNvPr descr="image.png" id="179" name="Google Shape;179;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80" name="Google Shape;180;p20"/>
          <p:cNvPicPr preferRelativeResize="0"/>
          <p:nvPr/>
        </p:nvPicPr>
        <p:blipFill rotWithShape="1">
          <a:blip r:embed="rId4">
            <a:alphaModFix/>
          </a:blip>
          <a:srcRect b="0" l="0" r="0" t="0"/>
          <a:stretch/>
        </p:blipFill>
        <p:spPr>
          <a:xfrm>
            <a:off x="6381750" y="421050"/>
            <a:ext cx="5238750" cy="6172200"/>
          </a:xfrm>
          <a:prstGeom prst="rect">
            <a:avLst/>
          </a:prstGeom>
          <a:noFill/>
          <a:ln cap="flat" cmpd="sng" w="9525">
            <a:solidFill>
              <a:schemeClr val="lt1"/>
            </a:solidFill>
            <a:prstDash val="solid"/>
            <a:round/>
            <a:headEnd len="sm" w="sm" type="none"/>
            <a:tailEnd len="sm" w="sm" type="none"/>
          </a:ln>
        </p:spPr>
      </p:pic>
      <p:sp>
        <p:nvSpPr>
          <p:cNvPr id="181" name="Google Shape;181;p20"/>
          <p:cNvSpPr txBox="1"/>
          <p:nvPr/>
        </p:nvSpPr>
        <p:spPr>
          <a:xfrm>
            <a:off x="771525" y="1800225"/>
            <a:ext cx="3810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a:t>
            </a:r>
            <a:endParaRPr/>
          </a:p>
        </p:txBody>
      </p:sp>
      <p:sp>
        <p:nvSpPr>
          <p:cNvPr id="182" name="Google Shape;182;p20"/>
          <p:cNvSpPr txBox="1"/>
          <p:nvPr/>
        </p:nvSpPr>
        <p:spPr>
          <a:xfrm>
            <a:off x="809625" y="1800225"/>
            <a:ext cx="5000625" cy="571500"/>
          </a:xfrm>
          <a:prstGeom prst="rect">
            <a:avLst/>
          </a:prstGeom>
          <a:noFill/>
          <a:ln>
            <a:noFill/>
          </a:ln>
        </p:spPr>
        <p:txBody>
          <a:bodyPr anchorCtr="0" anchor="t" bIns="0" lIns="3810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CBD5E1"/>
                </a:solidFill>
                <a:latin typeface="Urbanist"/>
                <a:ea typeface="Urbanist"/>
                <a:cs typeface="Urbanist"/>
                <a:sym typeface="Urbanist"/>
              </a:rPr>
              <a:t>1. Preprocessing Module:</a:t>
            </a:r>
            <a:r>
              <a:rPr b="0" i="0" lang="en-US" sz="1500" u="none" cap="none" strike="noStrike">
                <a:solidFill>
                  <a:srgbClr val="CBD5E1"/>
                </a:solidFill>
                <a:latin typeface="Urbanist"/>
                <a:ea typeface="Urbanist"/>
                <a:cs typeface="Urbanist"/>
                <a:sym typeface="Urbanist"/>
              </a:rPr>
              <a:t> Normalizes meshes and extracts adjacency graphs.</a:t>
            </a:r>
            <a:endParaRPr/>
          </a:p>
        </p:txBody>
      </p:sp>
      <p:sp>
        <p:nvSpPr>
          <p:cNvPr id="183" name="Google Shape;183;p20"/>
          <p:cNvSpPr txBox="1"/>
          <p:nvPr/>
        </p:nvSpPr>
        <p:spPr>
          <a:xfrm>
            <a:off x="771525" y="2562225"/>
            <a:ext cx="3810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a:t>
            </a:r>
            <a:endParaRPr/>
          </a:p>
        </p:txBody>
      </p:sp>
      <p:sp>
        <p:nvSpPr>
          <p:cNvPr id="184" name="Google Shape;184;p20"/>
          <p:cNvSpPr txBox="1"/>
          <p:nvPr/>
        </p:nvSpPr>
        <p:spPr>
          <a:xfrm>
            <a:off x="809625" y="2562225"/>
            <a:ext cx="5000625" cy="857250"/>
          </a:xfrm>
          <a:prstGeom prst="rect">
            <a:avLst/>
          </a:prstGeom>
          <a:noFill/>
          <a:ln>
            <a:noFill/>
          </a:ln>
        </p:spPr>
        <p:txBody>
          <a:bodyPr anchorCtr="0" anchor="t" bIns="0" lIns="3810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CBD5E1"/>
                </a:solidFill>
                <a:latin typeface="Urbanist"/>
                <a:ea typeface="Urbanist"/>
                <a:cs typeface="Urbanist"/>
                <a:sym typeface="Urbanist"/>
              </a:rPr>
              <a:t>2. ML Engine:</a:t>
            </a:r>
            <a:r>
              <a:rPr b="0" i="0" lang="en-US" sz="1500" u="none" cap="none" strike="noStrike">
                <a:solidFill>
                  <a:srgbClr val="CBD5E1"/>
                </a:solidFill>
                <a:latin typeface="Urbanist"/>
                <a:ea typeface="Urbanist"/>
                <a:cs typeface="Urbanist"/>
                <a:sym typeface="Urbanist"/>
              </a:rPr>
              <a:t> Fuses signals from a topological Discriminator, a GNN-based Critic, and an LMM multi-view inspector (LLaVA-v1.6).</a:t>
            </a:r>
            <a:endParaRPr/>
          </a:p>
        </p:txBody>
      </p:sp>
      <p:sp>
        <p:nvSpPr>
          <p:cNvPr id="185" name="Google Shape;185;p20"/>
          <p:cNvSpPr txBox="1"/>
          <p:nvPr/>
        </p:nvSpPr>
        <p:spPr>
          <a:xfrm>
            <a:off x="771525" y="3609975"/>
            <a:ext cx="3810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a:t>
            </a:r>
            <a:endParaRPr/>
          </a:p>
        </p:txBody>
      </p:sp>
      <p:sp>
        <p:nvSpPr>
          <p:cNvPr id="186" name="Google Shape;186;p20"/>
          <p:cNvSpPr txBox="1"/>
          <p:nvPr/>
        </p:nvSpPr>
        <p:spPr>
          <a:xfrm>
            <a:off x="809625" y="3609975"/>
            <a:ext cx="5000625" cy="857250"/>
          </a:xfrm>
          <a:prstGeom prst="rect">
            <a:avLst/>
          </a:prstGeom>
          <a:noFill/>
          <a:ln>
            <a:noFill/>
          </a:ln>
        </p:spPr>
        <p:txBody>
          <a:bodyPr anchorCtr="0" anchor="t" bIns="0" lIns="3810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CBD5E1"/>
                </a:solidFill>
                <a:latin typeface="Urbanist"/>
                <a:ea typeface="Urbanist"/>
                <a:cs typeface="Urbanist"/>
                <a:sym typeface="Urbanist"/>
              </a:rPr>
              <a:t>3. Extended Module:</a:t>
            </a:r>
            <a:r>
              <a:rPr b="0" i="0" lang="en-US" sz="1500" u="none" cap="none" strike="noStrike">
                <a:solidFill>
                  <a:srgbClr val="CBD5E1"/>
                </a:solidFill>
                <a:latin typeface="Urbanist"/>
                <a:ea typeface="Urbanist"/>
                <a:cs typeface="Urbanist"/>
                <a:sym typeface="Urbanist"/>
              </a:rPr>
              <a:t> Projects numerical severity scores into explicit vertex weights, driving the grounded refinement optimization.</a:t>
            </a:r>
            <a:endParaRPr/>
          </a:p>
        </p:txBody>
      </p:sp>
      <p:sp>
        <p:nvSpPr>
          <p:cNvPr id="187" name="Google Shape;187;p20"/>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System </a:t>
            </a:r>
            <a:r>
              <a:rPr b="1" i="0" lang="en-US" sz="3600" u="none" cap="none" strike="noStrike">
                <a:solidFill>
                  <a:srgbClr val="38BDF8"/>
                </a:solidFill>
                <a:latin typeface="Urbanist"/>
                <a:ea typeface="Urbanist"/>
                <a:cs typeface="Urbanist"/>
                <a:sym typeface="Urbanist"/>
              </a:rPr>
              <a:t>Architecture</a:t>
            </a:r>
            <a:endParaRPr/>
          </a:p>
        </p:txBody>
      </p:sp>
      <p:pic>
        <p:nvPicPr>
          <p:cNvPr id="188" name="Google Shape;188;p20" title="diagram_5_2_preprocessing.drawio.png"/>
          <p:cNvPicPr preferRelativeResize="0"/>
          <p:nvPr/>
        </p:nvPicPr>
        <p:blipFill>
          <a:blip r:embed="rId5">
            <a:alphaModFix/>
          </a:blip>
          <a:stretch>
            <a:fillRect/>
          </a:stretch>
        </p:blipFill>
        <p:spPr>
          <a:xfrm>
            <a:off x="6571025" y="519088"/>
            <a:ext cx="4860201" cy="58198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92" name="Shape 192"/>
        <p:cNvGrpSpPr/>
        <p:nvPr/>
      </p:nvGrpSpPr>
      <p:grpSpPr>
        <a:xfrm>
          <a:off x="0" y="0"/>
          <a:ext cx="0" cy="0"/>
          <a:chOff x="0" y="0"/>
          <a:chExt cx="0" cy="0"/>
        </a:xfrm>
      </p:grpSpPr>
      <p:pic>
        <p:nvPicPr>
          <p:cNvPr descr="image.png" id="193" name="Google Shape;193;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94" name="Google Shape;194;p21"/>
          <p:cNvPicPr preferRelativeResize="0"/>
          <p:nvPr/>
        </p:nvPicPr>
        <p:blipFill rotWithShape="1">
          <a:blip r:embed="rId4">
            <a:alphaModFix/>
          </a:blip>
          <a:srcRect b="0" l="0" r="0" t="0"/>
          <a:stretch/>
        </p:blipFill>
        <p:spPr>
          <a:xfrm>
            <a:off x="571500" y="2295525"/>
            <a:ext cx="5238750" cy="2819400"/>
          </a:xfrm>
          <a:prstGeom prst="rect">
            <a:avLst/>
          </a:prstGeom>
          <a:noFill/>
          <a:ln>
            <a:noFill/>
          </a:ln>
        </p:spPr>
      </p:pic>
      <p:pic>
        <p:nvPicPr>
          <p:cNvPr descr="image.png" id="195" name="Google Shape;195;p21"/>
          <p:cNvPicPr preferRelativeResize="0"/>
          <p:nvPr/>
        </p:nvPicPr>
        <p:blipFill rotWithShape="1">
          <a:blip r:embed="rId5">
            <a:alphaModFix/>
          </a:blip>
          <a:srcRect b="0" l="0" r="0" t="0"/>
          <a:stretch/>
        </p:blipFill>
        <p:spPr>
          <a:xfrm>
            <a:off x="6381750" y="2295525"/>
            <a:ext cx="5238750" cy="2819400"/>
          </a:xfrm>
          <a:prstGeom prst="rect">
            <a:avLst/>
          </a:prstGeom>
          <a:noFill/>
          <a:ln>
            <a:noFill/>
          </a:ln>
        </p:spPr>
      </p:pic>
      <p:sp>
        <p:nvSpPr>
          <p:cNvPr id="196" name="Google Shape;196;p21"/>
          <p:cNvSpPr txBox="1"/>
          <p:nvPr/>
        </p:nvSpPr>
        <p:spPr>
          <a:xfrm>
            <a:off x="866775" y="2686050"/>
            <a:ext cx="4880610"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38BDF8"/>
                </a:solidFill>
                <a:latin typeface="Urbanist Medium"/>
                <a:ea typeface="Urbanist Medium"/>
                <a:cs typeface="Urbanist Medium"/>
                <a:sym typeface="Urbanist Medium"/>
              </a:rPr>
              <a:t>Stage 1: Pre-processing</a:t>
            </a:r>
            <a:endParaRPr/>
          </a:p>
        </p:txBody>
      </p:sp>
      <p:sp>
        <p:nvSpPr>
          <p:cNvPr id="197" name="Google Shape;197;p21"/>
          <p:cNvSpPr txBox="1"/>
          <p:nvPr/>
        </p:nvSpPr>
        <p:spPr>
          <a:xfrm>
            <a:off x="866775" y="3152775"/>
            <a:ext cx="4648200" cy="1428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CBD5E1"/>
                </a:solidFill>
                <a:latin typeface="Urbanist"/>
                <a:ea typeface="Urbanist"/>
                <a:cs typeface="Urbanist"/>
                <a:sym typeface="Urbanist"/>
              </a:rPr>
              <a:t>Loads raw meshes via </a:t>
            </a:r>
            <a:r>
              <a:rPr b="0" i="1" lang="en-US" sz="1500" u="none" cap="none" strike="noStrike">
                <a:solidFill>
                  <a:srgbClr val="CBD5E1"/>
                </a:solidFill>
                <a:latin typeface="Urbanist"/>
                <a:ea typeface="Urbanist"/>
                <a:cs typeface="Urbanist"/>
                <a:sym typeface="Urbanist"/>
              </a:rPr>
              <a:t>Trimesh</a:t>
            </a:r>
            <a:r>
              <a:rPr b="0" i="0" lang="en-US" sz="1500" u="none" cap="none" strike="noStrike">
                <a:solidFill>
                  <a:srgbClr val="CBD5E1"/>
                </a:solidFill>
                <a:latin typeface="Urbanist"/>
                <a:ea typeface="Urbanist"/>
                <a:cs typeface="Urbanist"/>
                <a:sym typeface="Urbanist"/>
              </a:rPr>
              <a:t>. Meshes are centered and normalized to a unit bounding sphere. Vertex normals are computed, and the adjacency graph is extracted as a sparse matrix for downstream spectral analysis.</a:t>
            </a:r>
            <a:endParaRPr/>
          </a:p>
        </p:txBody>
      </p:sp>
      <p:sp>
        <p:nvSpPr>
          <p:cNvPr id="198" name="Google Shape;198;p21"/>
          <p:cNvSpPr txBox="1"/>
          <p:nvPr/>
        </p:nvSpPr>
        <p:spPr>
          <a:xfrm>
            <a:off x="6677025" y="2686050"/>
            <a:ext cx="4880610"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38BDF8"/>
                </a:solidFill>
                <a:latin typeface="Urbanist Medium"/>
                <a:ea typeface="Urbanist Medium"/>
                <a:cs typeface="Urbanist Medium"/>
                <a:sym typeface="Urbanist Medium"/>
              </a:rPr>
              <a:t>Stage 2: Dense Multi-View Rendering</a:t>
            </a:r>
            <a:endParaRPr/>
          </a:p>
        </p:txBody>
      </p:sp>
      <p:sp>
        <p:nvSpPr>
          <p:cNvPr id="199" name="Google Shape;199;p21"/>
          <p:cNvSpPr txBox="1"/>
          <p:nvPr/>
        </p:nvSpPr>
        <p:spPr>
          <a:xfrm>
            <a:off x="6677025" y="3152775"/>
            <a:ext cx="4648200" cy="1143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CBD5E1"/>
                </a:solidFill>
                <a:latin typeface="Urbanist"/>
                <a:ea typeface="Urbanist"/>
                <a:cs typeface="Urbanist"/>
                <a:sym typeface="Urbanist"/>
              </a:rPr>
              <a:t>A pure-NumPy software rasterizer captures N views (e.g., 36) using Fibonacci-sphere distribution. Each viewpoint renders 5 specific buffers: RGB, Depth, Normal Map, Silhouette, and Edge/Curvature map.</a:t>
            </a:r>
            <a:endParaRPr/>
          </a:p>
        </p:txBody>
      </p:sp>
      <p:sp>
        <p:nvSpPr>
          <p:cNvPr id="200" name="Google Shape;200;p21"/>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Pipeline: </a:t>
            </a:r>
            <a:r>
              <a:rPr b="1" i="0" lang="en-US" sz="3600" u="none" cap="none" strike="noStrike">
                <a:solidFill>
                  <a:srgbClr val="38BDF8"/>
                </a:solidFill>
                <a:latin typeface="Urbanist"/>
                <a:ea typeface="Urbanist"/>
                <a:cs typeface="Urbanist"/>
                <a:sym typeface="Urbanist"/>
              </a:rPr>
              <a:t>Ingestion &amp; Rendering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04" name="Shape 204"/>
        <p:cNvGrpSpPr/>
        <p:nvPr/>
      </p:nvGrpSpPr>
      <p:grpSpPr>
        <a:xfrm>
          <a:off x="0" y="0"/>
          <a:ext cx="0" cy="0"/>
          <a:chOff x="0" y="0"/>
          <a:chExt cx="0" cy="0"/>
        </a:xfrm>
      </p:grpSpPr>
      <p:pic>
        <p:nvPicPr>
          <p:cNvPr descr="image.png" id="205" name="Google Shape;205;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6" name="Google Shape;206;p22"/>
          <p:cNvPicPr preferRelativeResize="0"/>
          <p:nvPr/>
        </p:nvPicPr>
        <p:blipFill rotWithShape="1">
          <a:blip r:embed="rId4">
            <a:alphaModFix/>
          </a:blip>
          <a:srcRect b="0" l="0" r="0" t="0"/>
          <a:stretch/>
        </p:blipFill>
        <p:spPr>
          <a:xfrm>
            <a:off x="571500" y="1766887"/>
            <a:ext cx="5238750" cy="3876675"/>
          </a:xfrm>
          <a:prstGeom prst="rect">
            <a:avLst/>
          </a:prstGeom>
          <a:noFill/>
          <a:ln>
            <a:noFill/>
          </a:ln>
        </p:spPr>
      </p:pic>
      <p:pic>
        <p:nvPicPr>
          <p:cNvPr descr="image.png" id="207" name="Google Shape;207;p22"/>
          <p:cNvPicPr preferRelativeResize="0"/>
          <p:nvPr/>
        </p:nvPicPr>
        <p:blipFill rotWithShape="1">
          <a:blip r:embed="rId5">
            <a:alphaModFix/>
          </a:blip>
          <a:srcRect b="0" l="0" r="0" t="0"/>
          <a:stretch/>
        </p:blipFill>
        <p:spPr>
          <a:xfrm>
            <a:off x="6381750" y="1766887"/>
            <a:ext cx="5238750" cy="3876675"/>
          </a:xfrm>
          <a:prstGeom prst="rect">
            <a:avLst/>
          </a:prstGeom>
          <a:noFill/>
          <a:ln>
            <a:noFill/>
          </a:ln>
        </p:spPr>
      </p:pic>
      <p:pic>
        <p:nvPicPr>
          <p:cNvPr descr="image.png" id="208" name="Google Shape;208;p22"/>
          <p:cNvPicPr preferRelativeResize="0"/>
          <p:nvPr/>
        </p:nvPicPr>
        <p:blipFill rotWithShape="1">
          <a:blip r:embed="rId6">
            <a:alphaModFix/>
          </a:blip>
          <a:srcRect b="0" l="0" r="0" t="0"/>
          <a:stretch/>
        </p:blipFill>
        <p:spPr>
          <a:xfrm>
            <a:off x="6677025" y="3624262"/>
            <a:ext cx="4648200" cy="723900"/>
          </a:xfrm>
          <a:prstGeom prst="rect">
            <a:avLst/>
          </a:prstGeom>
          <a:noFill/>
          <a:ln>
            <a:noFill/>
          </a:ln>
        </p:spPr>
      </p:pic>
      <p:sp>
        <p:nvSpPr>
          <p:cNvPr id="209" name="Google Shape;209;p22"/>
          <p:cNvSpPr txBox="1"/>
          <p:nvPr/>
        </p:nvSpPr>
        <p:spPr>
          <a:xfrm>
            <a:off x="866775" y="2157412"/>
            <a:ext cx="4880610"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38BDF8"/>
                </a:solidFill>
                <a:latin typeface="Urbanist Medium"/>
                <a:ea typeface="Urbanist Medium"/>
                <a:cs typeface="Urbanist Medium"/>
                <a:sym typeface="Urbanist Medium"/>
              </a:rPr>
              <a:t>Stage 3: LMM Detection</a:t>
            </a:r>
            <a:endParaRPr/>
          </a:p>
        </p:txBody>
      </p:sp>
      <p:sp>
        <p:nvSpPr>
          <p:cNvPr id="210" name="Google Shape;210;p22"/>
          <p:cNvSpPr txBox="1"/>
          <p:nvPr/>
        </p:nvSpPr>
        <p:spPr>
          <a:xfrm>
            <a:off x="866775" y="2624137"/>
            <a:ext cx="4648200" cy="1143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CBD5E1"/>
                </a:solidFill>
                <a:latin typeface="Urbanist"/>
                <a:ea typeface="Urbanist"/>
                <a:cs typeface="Urbanist"/>
                <a:sym typeface="Urbanist"/>
              </a:rPr>
              <a:t>LLaVA v1.6 inspects RGB buffers, outputting a numerical severity score [0,1] for spatial errors. Critically, we discard natural language notes and strictly ingest the numerical bias to avoid semantic loss.</a:t>
            </a:r>
            <a:endParaRPr/>
          </a:p>
        </p:txBody>
      </p:sp>
      <p:sp>
        <p:nvSpPr>
          <p:cNvPr id="211" name="Google Shape;211;p22"/>
          <p:cNvSpPr txBox="1"/>
          <p:nvPr/>
        </p:nvSpPr>
        <p:spPr>
          <a:xfrm>
            <a:off x="6677025" y="2157412"/>
            <a:ext cx="4880610"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38BDF8"/>
                </a:solidFill>
                <a:latin typeface="Urbanist Medium"/>
                <a:ea typeface="Urbanist Medium"/>
                <a:cs typeface="Urbanist Medium"/>
                <a:sym typeface="Urbanist Medium"/>
              </a:rPr>
              <a:t>Stage 4: Adversarial Geometric Critic</a:t>
            </a:r>
            <a:endParaRPr/>
          </a:p>
        </p:txBody>
      </p:sp>
      <p:sp>
        <p:nvSpPr>
          <p:cNvPr id="212" name="Google Shape;212;p22"/>
          <p:cNvSpPr txBox="1"/>
          <p:nvPr/>
        </p:nvSpPr>
        <p:spPr>
          <a:xfrm>
            <a:off x="6677025" y="2624137"/>
            <a:ext cx="4648200" cy="8572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CBD5E1"/>
                </a:solidFill>
                <a:latin typeface="Urbanist"/>
                <a:ea typeface="Urbanist"/>
                <a:cs typeface="Urbanist"/>
                <a:sym typeface="Urbanist"/>
              </a:rPr>
              <a:t>Computes global scores analyzing Laplacian eigenvalue variance. We extract exact algebraic topological invariants like the Euler Characteristic:</a:t>
            </a:r>
            <a:endParaRPr/>
          </a:p>
        </p:txBody>
      </p:sp>
      <p:sp>
        <p:nvSpPr>
          <p:cNvPr id="213" name="Google Shape;213;p22"/>
          <p:cNvSpPr txBox="1"/>
          <p:nvPr/>
        </p:nvSpPr>
        <p:spPr>
          <a:xfrm>
            <a:off x="6677025" y="4538662"/>
            <a:ext cx="464820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CBD5E1"/>
                </a:solidFill>
                <a:latin typeface="Urbanist"/>
                <a:ea typeface="Urbanist"/>
                <a:cs typeface="Urbanist"/>
                <a:sym typeface="Urbanist"/>
              </a:rPr>
              <a:t>This allows absolute mathematical validation of handles and loops.</a:t>
            </a:r>
            <a:endParaRPr/>
          </a:p>
        </p:txBody>
      </p:sp>
      <p:pic>
        <p:nvPicPr>
          <p:cNvPr descr="image.png" id="214" name="Google Shape;214;p22"/>
          <p:cNvPicPr preferRelativeResize="0"/>
          <p:nvPr/>
        </p:nvPicPr>
        <p:blipFill rotWithShape="1">
          <a:blip r:embed="rId7">
            <a:alphaModFix/>
          </a:blip>
          <a:srcRect b="0" l="0" r="0" t="0"/>
          <a:stretch/>
        </p:blipFill>
        <p:spPr>
          <a:xfrm>
            <a:off x="8273057" y="3910012"/>
            <a:ext cx="1456134" cy="228600"/>
          </a:xfrm>
          <a:prstGeom prst="rect">
            <a:avLst/>
          </a:prstGeom>
          <a:noFill/>
          <a:ln>
            <a:noFill/>
          </a:ln>
        </p:spPr>
      </p:pic>
      <p:sp>
        <p:nvSpPr>
          <p:cNvPr id="215" name="Google Shape;215;p22"/>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Pipeline: </a:t>
            </a:r>
            <a:r>
              <a:rPr b="1" i="0" lang="en-US" sz="3600" u="none" cap="none" strike="noStrike">
                <a:solidFill>
                  <a:srgbClr val="38BDF8"/>
                </a:solidFill>
                <a:latin typeface="Urbanist"/>
                <a:ea typeface="Urbanist"/>
                <a:cs typeface="Urbanist"/>
                <a:sym typeface="Urbanist"/>
              </a:rPr>
              <a:t>Detection &amp; Critic</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19" name="Shape 219"/>
        <p:cNvGrpSpPr/>
        <p:nvPr/>
      </p:nvGrpSpPr>
      <p:grpSpPr>
        <a:xfrm>
          <a:off x="0" y="0"/>
          <a:ext cx="0" cy="0"/>
          <a:chOff x="0" y="0"/>
          <a:chExt cx="0" cy="0"/>
        </a:xfrm>
      </p:grpSpPr>
      <p:pic>
        <p:nvPicPr>
          <p:cNvPr descr="image.png" id="220" name="Google Shape;220;p2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21" name="Google Shape;221;p23"/>
          <p:cNvSpPr txBox="1"/>
          <p:nvPr/>
        </p:nvSpPr>
        <p:spPr>
          <a:xfrm>
            <a:off x="571500" y="2852737"/>
            <a:ext cx="5238750" cy="1333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0500" u="none" cap="none" strike="noStrike">
                <a:solidFill>
                  <a:srgbClr val="38BDF8"/>
                </a:solidFill>
                <a:latin typeface="Urbanist"/>
                <a:ea typeface="Urbanist"/>
                <a:cs typeface="Urbanist"/>
                <a:sym typeface="Urbanist"/>
              </a:rPr>
              <a:t>3D</a:t>
            </a:r>
            <a:endParaRPr/>
          </a:p>
        </p:txBody>
      </p:sp>
      <p:sp>
        <p:nvSpPr>
          <p:cNvPr id="222" name="Google Shape;222;p23"/>
          <p:cNvSpPr txBox="1"/>
          <p:nvPr/>
        </p:nvSpPr>
        <p:spPr>
          <a:xfrm>
            <a:off x="571500" y="4281487"/>
            <a:ext cx="5238750"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F8FAFC"/>
                </a:solidFill>
                <a:latin typeface="Urbanist"/>
                <a:ea typeface="Urbanist"/>
                <a:cs typeface="Urbanist"/>
                <a:sym typeface="Urbanist"/>
              </a:rPr>
              <a:t>SPATIAL PRECISION</a:t>
            </a:r>
            <a:endParaRPr/>
          </a:p>
        </p:txBody>
      </p:sp>
      <p:sp>
        <p:nvSpPr>
          <p:cNvPr id="223" name="Google Shape;223;p23"/>
          <p:cNvSpPr txBox="1"/>
          <p:nvPr/>
        </p:nvSpPr>
        <p:spPr>
          <a:xfrm>
            <a:off x="6381750" y="2686050"/>
            <a:ext cx="5500687"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38BDF8"/>
                </a:solidFill>
                <a:latin typeface="Urbanist Medium"/>
                <a:ea typeface="Urbanist Medium"/>
                <a:cs typeface="Urbanist Medium"/>
                <a:sym typeface="Urbanist Medium"/>
              </a:rPr>
              <a:t>Mapping Views to Vertices</a:t>
            </a:r>
            <a:endParaRPr/>
          </a:p>
        </p:txBody>
      </p:sp>
      <p:sp>
        <p:nvSpPr>
          <p:cNvPr id="224" name="Google Shape;224;p23"/>
          <p:cNvSpPr txBox="1"/>
          <p:nvPr/>
        </p:nvSpPr>
        <p:spPr>
          <a:xfrm>
            <a:off x="6381750" y="3152775"/>
            <a:ext cx="5238750" cy="1428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CBD5E1"/>
                </a:solidFill>
                <a:latin typeface="Urbanist"/>
                <a:ea typeface="Urbanist"/>
                <a:cs typeface="Urbanist"/>
                <a:sym typeface="Urbanist"/>
              </a:rPr>
              <a:t>The grounding module solves the core research problem. It projects 2D severity scores back onto specific vertices by calculating projection distance and normal vector alignment. This fuses LMM bias with the GNN critic anomaly scores into a unified, high-precision vertex weight map.</a:t>
            </a:r>
            <a:endParaRPr/>
          </a:p>
        </p:txBody>
      </p:sp>
      <p:sp>
        <p:nvSpPr>
          <p:cNvPr id="225" name="Google Shape;225;p23"/>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Pipeline: </a:t>
            </a:r>
            <a:r>
              <a:rPr b="1" i="0" lang="en-US" sz="3600" u="none" cap="none" strike="noStrike">
                <a:solidFill>
                  <a:srgbClr val="38BDF8"/>
                </a:solidFill>
                <a:latin typeface="Urbanist"/>
                <a:ea typeface="Urbanist"/>
                <a:cs typeface="Urbanist"/>
                <a:sym typeface="Urbanist"/>
              </a:rPr>
              <a:t>Geometric Grounding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29" name="Shape 229"/>
        <p:cNvGrpSpPr/>
        <p:nvPr/>
      </p:nvGrpSpPr>
      <p:grpSpPr>
        <a:xfrm>
          <a:off x="0" y="0"/>
          <a:ext cx="0" cy="0"/>
          <a:chOff x="0" y="0"/>
          <a:chExt cx="0" cy="0"/>
        </a:xfrm>
      </p:grpSpPr>
      <p:pic>
        <p:nvPicPr>
          <p:cNvPr descr="image.png" id="230" name="Google Shape;230;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31" name="Google Shape;231;p24"/>
          <p:cNvPicPr preferRelativeResize="0"/>
          <p:nvPr/>
        </p:nvPicPr>
        <p:blipFill rotWithShape="1">
          <a:blip r:embed="rId4">
            <a:alphaModFix/>
          </a:blip>
          <a:srcRect b="0" l="0" r="0" t="0"/>
          <a:stretch/>
        </p:blipFill>
        <p:spPr>
          <a:xfrm>
            <a:off x="571500" y="2514600"/>
            <a:ext cx="5699373" cy="756493"/>
          </a:xfrm>
          <a:prstGeom prst="rect">
            <a:avLst/>
          </a:prstGeom>
          <a:noFill/>
          <a:ln>
            <a:noFill/>
          </a:ln>
        </p:spPr>
      </p:pic>
      <p:pic>
        <p:nvPicPr>
          <p:cNvPr descr="image.png" id="232" name="Google Shape;232;p24"/>
          <p:cNvPicPr preferRelativeResize="0"/>
          <p:nvPr/>
        </p:nvPicPr>
        <p:blipFill rotWithShape="1">
          <a:blip r:embed="rId5">
            <a:alphaModFix/>
          </a:blip>
          <a:srcRect b="0" l="0" r="0" t="0"/>
          <a:stretch/>
        </p:blipFill>
        <p:spPr>
          <a:xfrm>
            <a:off x="6842373" y="1800225"/>
            <a:ext cx="4778126" cy="3810000"/>
          </a:xfrm>
          <a:prstGeom prst="rect">
            <a:avLst/>
          </a:prstGeom>
          <a:noFill/>
          <a:ln>
            <a:noFill/>
          </a:ln>
        </p:spPr>
      </p:pic>
      <p:sp>
        <p:nvSpPr>
          <p:cNvPr id="233" name="Google Shape;233;p24"/>
          <p:cNvSpPr txBox="1"/>
          <p:nvPr/>
        </p:nvSpPr>
        <p:spPr>
          <a:xfrm>
            <a:off x="571500" y="1800225"/>
            <a:ext cx="5699373"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CBD5E1"/>
                </a:solidFill>
                <a:latin typeface="Urbanist"/>
                <a:ea typeface="Urbanist"/>
                <a:cs typeface="Urbanist"/>
                <a:sym typeface="Urbanist"/>
              </a:rPr>
              <a:t>Iteratively updates vertex positions using an energy minimization loop guided by the grounded weight map.</a:t>
            </a:r>
            <a:endParaRPr/>
          </a:p>
        </p:txBody>
      </p:sp>
      <p:sp>
        <p:nvSpPr>
          <p:cNvPr id="234" name="Google Shape;234;p24"/>
          <p:cNvSpPr txBox="1"/>
          <p:nvPr/>
        </p:nvSpPr>
        <p:spPr>
          <a:xfrm>
            <a:off x="571500" y="3461593"/>
            <a:ext cx="5699373" cy="8572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CBD5E1"/>
                </a:solidFill>
                <a:latin typeface="Urbanist"/>
                <a:ea typeface="Urbanist"/>
                <a:cs typeface="Urbanist"/>
                <a:sym typeface="Urbanist"/>
              </a:rPr>
              <a:t>The distillation anchor term </a:t>
            </a:r>
            <a:r>
              <a:rPr b="1" i="0" lang="en-US" sz="1500" u="none" cap="none" strike="noStrike">
                <a:solidFill>
                  <a:srgbClr val="CBD5E1"/>
                </a:solidFill>
                <a:latin typeface="Urbanist"/>
                <a:ea typeface="Urbanist"/>
                <a:cs typeface="Urbanist"/>
                <a:sym typeface="Urbanist"/>
              </a:rPr>
              <a:t>D(v)</a:t>
            </a:r>
            <a:r>
              <a:rPr b="0" i="0" lang="en-US" sz="1500" u="none" cap="none" strike="noStrike">
                <a:solidFill>
                  <a:srgbClr val="CBD5E1"/>
                </a:solidFill>
                <a:latin typeface="Urbanist"/>
                <a:ea typeface="Urbanist"/>
                <a:cs typeface="Urbanist"/>
                <a:sym typeface="Urbanist"/>
              </a:rPr>
              <a:t> guarantees theoretical boundedness, ensuring the mesh doesn't drift into degenerate geometry during Laplacian smoothing.</a:t>
            </a:r>
            <a:endParaRPr/>
          </a:p>
        </p:txBody>
      </p:sp>
      <p:pic>
        <p:nvPicPr>
          <p:cNvPr descr="image.png" id="235" name="Google Shape;235;p24"/>
          <p:cNvPicPr preferRelativeResize="0"/>
          <p:nvPr/>
        </p:nvPicPr>
        <p:blipFill rotWithShape="1">
          <a:blip r:embed="rId6">
            <a:alphaModFix/>
          </a:blip>
          <a:srcRect b="0" l="0" r="0" t="0"/>
          <a:stretch/>
        </p:blipFill>
        <p:spPr>
          <a:xfrm>
            <a:off x="771525" y="2781300"/>
            <a:ext cx="5299323" cy="289768"/>
          </a:xfrm>
          <a:prstGeom prst="rect">
            <a:avLst/>
          </a:prstGeom>
          <a:noFill/>
          <a:ln>
            <a:noFill/>
          </a:ln>
        </p:spPr>
      </p:pic>
      <p:pic>
        <p:nvPicPr>
          <p:cNvPr descr="image.png" id="236" name="Google Shape;236;p24"/>
          <p:cNvPicPr preferRelativeResize="0"/>
          <p:nvPr/>
        </p:nvPicPr>
        <p:blipFill rotWithShape="1">
          <a:blip r:embed="rId7">
            <a:alphaModFix/>
          </a:blip>
          <a:srcRect b="0" l="0" r="0" t="0"/>
          <a:stretch/>
        </p:blipFill>
        <p:spPr>
          <a:xfrm>
            <a:off x="6851898" y="1809750"/>
            <a:ext cx="4759076" cy="3790950"/>
          </a:xfrm>
          <a:prstGeom prst="rect">
            <a:avLst/>
          </a:prstGeom>
          <a:noFill/>
          <a:ln>
            <a:noFill/>
          </a:ln>
        </p:spPr>
      </p:pic>
      <p:sp>
        <p:nvSpPr>
          <p:cNvPr id="237" name="Google Shape;237;p24"/>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Pipeline: </a:t>
            </a:r>
            <a:r>
              <a:rPr b="1" i="0" lang="en-US" sz="3600" u="none" cap="none" strike="noStrike">
                <a:solidFill>
                  <a:srgbClr val="38BDF8"/>
                </a:solidFill>
                <a:latin typeface="Urbanist"/>
                <a:ea typeface="Urbanist"/>
                <a:cs typeface="Urbanist"/>
                <a:sym typeface="Urbanist"/>
              </a:rPr>
              <a:t>Grounded Refinement Loop</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41" name="Shape 241"/>
        <p:cNvGrpSpPr/>
        <p:nvPr/>
      </p:nvGrpSpPr>
      <p:grpSpPr>
        <a:xfrm>
          <a:off x="0" y="0"/>
          <a:ext cx="0" cy="0"/>
          <a:chOff x="0" y="0"/>
          <a:chExt cx="0" cy="0"/>
        </a:xfrm>
      </p:grpSpPr>
      <p:pic>
        <p:nvPicPr>
          <p:cNvPr descr="image.png" id="242" name="Google Shape;242;p2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43" name="Google Shape;243;p25"/>
          <p:cNvPicPr preferRelativeResize="0"/>
          <p:nvPr/>
        </p:nvPicPr>
        <p:blipFill rotWithShape="1">
          <a:blip r:embed="rId4">
            <a:alphaModFix/>
          </a:blip>
          <a:srcRect b="0" l="0" r="0" t="0"/>
          <a:stretch/>
        </p:blipFill>
        <p:spPr>
          <a:xfrm>
            <a:off x="571500" y="2066925"/>
            <a:ext cx="3492549" cy="3276600"/>
          </a:xfrm>
          <a:prstGeom prst="rect">
            <a:avLst/>
          </a:prstGeom>
          <a:noFill/>
          <a:ln>
            <a:noFill/>
          </a:ln>
        </p:spPr>
      </p:pic>
      <p:pic>
        <p:nvPicPr>
          <p:cNvPr descr="image.png" id="244" name="Google Shape;244;p25"/>
          <p:cNvPicPr preferRelativeResize="0"/>
          <p:nvPr/>
        </p:nvPicPr>
        <p:blipFill rotWithShape="1">
          <a:blip r:embed="rId5">
            <a:alphaModFix/>
          </a:blip>
          <a:srcRect b="0" l="0" r="0" t="0"/>
          <a:stretch/>
        </p:blipFill>
        <p:spPr>
          <a:xfrm>
            <a:off x="4349799" y="2066925"/>
            <a:ext cx="3492549" cy="3276600"/>
          </a:xfrm>
          <a:prstGeom prst="rect">
            <a:avLst/>
          </a:prstGeom>
          <a:noFill/>
          <a:ln>
            <a:noFill/>
          </a:ln>
        </p:spPr>
      </p:pic>
      <p:pic>
        <p:nvPicPr>
          <p:cNvPr descr="image.png" id="245" name="Google Shape;245;p25"/>
          <p:cNvPicPr preferRelativeResize="0"/>
          <p:nvPr/>
        </p:nvPicPr>
        <p:blipFill rotWithShape="1">
          <a:blip r:embed="rId6">
            <a:alphaModFix/>
          </a:blip>
          <a:srcRect b="0" l="0" r="0" t="0"/>
          <a:stretch/>
        </p:blipFill>
        <p:spPr>
          <a:xfrm>
            <a:off x="8128099" y="2066925"/>
            <a:ext cx="3492549" cy="3276600"/>
          </a:xfrm>
          <a:prstGeom prst="rect">
            <a:avLst/>
          </a:prstGeom>
          <a:noFill/>
          <a:ln>
            <a:noFill/>
          </a:ln>
        </p:spPr>
      </p:pic>
      <p:sp>
        <p:nvSpPr>
          <p:cNvPr id="246" name="Google Shape;246;p25"/>
          <p:cNvSpPr txBox="1"/>
          <p:nvPr/>
        </p:nvSpPr>
        <p:spPr>
          <a:xfrm>
            <a:off x="907524" y="3009900"/>
            <a:ext cx="2820352"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38BDF8"/>
                </a:solidFill>
                <a:latin typeface="Urbanist Medium"/>
                <a:ea typeface="Urbanist Medium"/>
                <a:cs typeface="Urbanist Medium"/>
                <a:sym typeface="Urbanist Medium"/>
              </a:rPr>
              <a:t>Geometry &amp; Compute</a:t>
            </a:r>
            <a:endParaRPr/>
          </a:p>
        </p:txBody>
      </p:sp>
      <p:sp>
        <p:nvSpPr>
          <p:cNvPr id="247" name="Google Shape;247;p25"/>
          <p:cNvSpPr txBox="1"/>
          <p:nvPr/>
        </p:nvSpPr>
        <p:spPr>
          <a:xfrm>
            <a:off x="771525" y="3476625"/>
            <a:ext cx="3092499" cy="142875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i="0" lang="en-US" sz="1500" u="none" cap="none" strike="noStrike">
                <a:solidFill>
                  <a:srgbClr val="CBD5E1"/>
                </a:solidFill>
                <a:latin typeface="Urbanist"/>
                <a:ea typeface="Urbanist"/>
                <a:cs typeface="Urbanist"/>
                <a:sym typeface="Urbanist"/>
              </a:rPr>
              <a:t>Python</a:t>
            </a:r>
            <a:r>
              <a:rPr b="0" i="0" lang="en-US" sz="1500" u="none" cap="none" strike="noStrike">
                <a:solidFill>
                  <a:srgbClr val="CBD5E1"/>
                </a:solidFill>
                <a:latin typeface="Urbanist"/>
                <a:ea typeface="Urbanist"/>
                <a:cs typeface="Urbanist"/>
                <a:sym typeface="Urbanist"/>
              </a:rPr>
              <a:t> forms the base, utilizing </a:t>
            </a:r>
            <a:r>
              <a:rPr b="1" i="0" lang="en-US" sz="1500" u="none" cap="none" strike="noStrike">
                <a:solidFill>
                  <a:srgbClr val="CBD5E1"/>
                </a:solidFill>
                <a:latin typeface="Urbanist"/>
                <a:ea typeface="Urbanist"/>
                <a:cs typeface="Urbanist"/>
                <a:sym typeface="Urbanist"/>
              </a:rPr>
              <a:t>Trimesh</a:t>
            </a:r>
            <a:r>
              <a:rPr b="0" i="0" lang="en-US" sz="1500" u="none" cap="none" strike="noStrike">
                <a:solidFill>
                  <a:srgbClr val="CBD5E1"/>
                </a:solidFill>
                <a:latin typeface="Urbanist"/>
                <a:ea typeface="Urbanist"/>
                <a:cs typeface="Urbanist"/>
                <a:sym typeface="Urbanist"/>
              </a:rPr>
              <a:t> for mesh loading/topology and </a:t>
            </a:r>
            <a:r>
              <a:rPr b="1" i="0" lang="en-US" sz="1500" u="none" cap="none" strike="noStrike">
                <a:solidFill>
                  <a:srgbClr val="CBD5E1"/>
                </a:solidFill>
                <a:latin typeface="Urbanist"/>
                <a:ea typeface="Urbanist"/>
                <a:cs typeface="Urbanist"/>
                <a:sym typeface="Urbanist"/>
              </a:rPr>
              <a:t>NumPy/SciPy</a:t>
            </a:r>
            <a:r>
              <a:rPr b="0" i="0" lang="en-US" sz="1500" u="none" cap="none" strike="noStrike">
                <a:solidFill>
                  <a:srgbClr val="CBD5E1"/>
                </a:solidFill>
                <a:latin typeface="Urbanist"/>
                <a:ea typeface="Urbanist"/>
                <a:cs typeface="Urbanist"/>
                <a:sym typeface="Urbanist"/>
              </a:rPr>
              <a:t> for custom multi-view software rasterization and sparse Laplacian eigenvalues.</a:t>
            </a:r>
            <a:endParaRPr/>
          </a:p>
        </p:txBody>
      </p:sp>
      <p:sp>
        <p:nvSpPr>
          <p:cNvPr id="248" name="Google Shape;248;p25"/>
          <p:cNvSpPr txBox="1"/>
          <p:nvPr/>
        </p:nvSpPr>
        <p:spPr>
          <a:xfrm>
            <a:off x="4990861" y="3009900"/>
            <a:ext cx="2210276"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38BDF8"/>
                </a:solidFill>
                <a:latin typeface="Urbanist Medium"/>
                <a:ea typeface="Urbanist Medium"/>
                <a:cs typeface="Urbanist Medium"/>
                <a:sym typeface="Urbanist Medium"/>
              </a:rPr>
              <a:t>Machine Learning</a:t>
            </a:r>
            <a:endParaRPr/>
          </a:p>
        </p:txBody>
      </p:sp>
      <p:sp>
        <p:nvSpPr>
          <p:cNvPr id="249" name="Google Shape;249;p25"/>
          <p:cNvSpPr txBox="1"/>
          <p:nvPr/>
        </p:nvSpPr>
        <p:spPr>
          <a:xfrm>
            <a:off x="4549824" y="3476625"/>
            <a:ext cx="3092499" cy="142875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i="0" lang="en-US" sz="1500" u="none" cap="none" strike="noStrike">
                <a:solidFill>
                  <a:srgbClr val="CBD5E1"/>
                </a:solidFill>
                <a:latin typeface="Urbanist"/>
                <a:ea typeface="Urbanist"/>
                <a:cs typeface="Urbanist"/>
                <a:sym typeface="Urbanist"/>
              </a:rPr>
              <a:t>PyTorch</a:t>
            </a:r>
            <a:r>
              <a:rPr b="0" i="0" lang="en-US" sz="1500" u="none" cap="none" strike="noStrike">
                <a:solidFill>
                  <a:srgbClr val="CBD5E1"/>
                </a:solidFill>
                <a:latin typeface="Urbanist"/>
                <a:ea typeface="Urbanist"/>
                <a:cs typeface="Urbanist"/>
                <a:sym typeface="Urbanist"/>
              </a:rPr>
              <a:t> and </a:t>
            </a:r>
            <a:r>
              <a:rPr b="1" i="0" lang="en-US" sz="1500" u="none" cap="none" strike="noStrike">
                <a:solidFill>
                  <a:srgbClr val="CBD5E1"/>
                </a:solidFill>
                <a:latin typeface="Urbanist"/>
                <a:ea typeface="Urbanist"/>
                <a:cs typeface="Urbanist"/>
                <a:sym typeface="Urbanist"/>
              </a:rPr>
              <a:t>PyTorch Geometric</a:t>
            </a:r>
            <a:r>
              <a:rPr b="0" i="0" lang="en-US" sz="1500" u="none" cap="none" strike="noStrike">
                <a:solidFill>
                  <a:srgbClr val="CBD5E1"/>
                </a:solidFill>
                <a:latin typeface="Urbanist"/>
                <a:ea typeface="Urbanist"/>
                <a:cs typeface="Urbanist"/>
                <a:sym typeface="Urbanist"/>
              </a:rPr>
              <a:t> construct the GCN Critic. Allows for dynamic, gradient-based anomaly scoring directly on graph edge indices.</a:t>
            </a:r>
            <a:endParaRPr/>
          </a:p>
        </p:txBody>
      </p:sp>
      <p:sp>
        <p:nvSpPr>
          <p:cNvPr id="250" name="Google Shape;250;p25"/>
          <p:cNvSpPr txBox="1"/>
          <p:nvPr/>
        </p:nvSpPr>
        <p:spPr>
          <a:xfrm>
            <a:off x="8849171" y="3009900"/>
            <a:ext cx="2050256"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38BDF8"/>
                </a:solidFill>
                <a:latin typeface="Urbanist Medium"/>
                <a:ea typeface="Urbanist Medium"/>
                <a:cs typeface="Urbanist Medium"/>
                <a:sym typeface="Urbanist Medium"/>
              </a:rPr>
              <a:t>Vision Language</a:t>
            </a:r>
            <a:endParaRPr/>
          </a:p>
        </p:txBody>
      </p:sp>
      <p:sp>
        <p:nvSpPr>
          <p:cNvPr id="251" name="Google Shape;251;p25"/>
          <p:cNvSpPr txBox="1"/>
          <p:nvPr/>
        </p:nvSpPr>
        <p:spPr>
          <a:xfrm>
            <a:off x="8328124" y="3476625"/>
            <a:ext cx="3092499" cy="11430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CBD5E1"/>
                </a:solidFill>
                <a:latin typeface="Urbanist"/>
                <a:ea typeface="Urbanist"/>
                <a:cs typeface="Urbanist"/>
                <a:sym typeface="Urbanist"/>
              </a:rPr>
              <a:t>Local deployment of </a:t>
            </a:r>
            <a:r>
              <a:rPr b="1" i="0" lang="en-US" sz="1500" u="none" cap="none" strike="noStrike">
                <a:solidFill>
                  <a:srgbClr val="CBD5E1"/>
                </a:solidFill>
                <a:latin typeface="Urbanist"/>
                <a:ea typeface="Urbanist"/>
                <a:cs typeface="Urbanist"/>
                <a:sym typeface="Urbanist"/>
              </a:rPr>
              <a:t>LLaVA-v1.6</a:t>
            </a:r>
            <a:r>
              <a:rPr b="0" i="0" lang="en-US" sz="1500" u="none" cap="none" strike="noStrike">
                <a:solidFill>
                  <a:srgbClr val="CBD5E1"/>
                </a:solidFill>
                <a:latin typeface="Urbanist"/>
                <a:ea typeface="Urbanist"/>
                <a:cs typeface="Urbanist"/>
                <a:sym typeface="Urbanist"/>
              </a:rPr>
              <a:t> (via HuggingFace) executes hardware-accelerated multimodal inspection across 36+ generated viewpoints.</a:t>
            </a:r>
            <a:endParaRPr/>
          </a:p>
        </p:txBody>
      </p:sp>
      <p:pic>
        <p:nvPicPr>
          <p:cNvPr descr="image.png" id="252" name="Google Shape;252;p25"/>
          <p:cNvPicPr preferRelativeResize="0"/>
          <p:nvPr/>
        </p:nvPicPr>
        <p:blipFill rotWithShape="1">
          <a:blip r:embed="rId7">
            <a:alphaModFix/>
          </a:blip>
          <a:srcRect b="0" l="0" r="0" t="0"/>
          <a:stretch/>
        </p:blipFill>
        <p:spPr>
          <a:xfrm>
            <a:off x="2127200" y="2390775"/>
            <a:ext cx="381000" cy="381000"/>
          </a:xfrm>
          <a:prstGeom prst="rect">
            <a:avLst/>
          </a:prstGeom>
          <a:noFill/>
          <a:ln>
            <a:noFill/>
          </a:ln>
        </p:spPr>
      </p:pic>
      <p:pic>
        <p:nvPicPr>
          <p:cNvPr descr="image.png" id="253" name="Google Shape;253;p25"/>
          <p:cNvPicPr preferRelativeResize="0"/>
          <p:nvPr/>
        </p:nvPicPr>
        <p:blipFill rotWithShape="1">
          <a:blip r:embed="rId8">
            <a:alphaModFix/>
          </a:blip>
          <a:srcRect b="0" l="0" r="0" t="0"/>
          <a:stretch/>
        </p:blipFill>
        <p:spPr>
          <a:xfrm>
            <a:off x="5857875" y="2390775"/>
            <a:ext cx="476250" cy="381000"/>
          </a:xfrm>
          <a:prstGeom prst="rect">
            <a:avLst/>
          </a:prstGeom>
          <a:noFill/>
          <a:ln>
            <a:noFill/>
          </a:ln>
        </p:spPr>
      </p:pic>
      <p:pic>
        <p:nvPicPr>
          <p:cNvPr descr="image.png" id="254" name="Google Shape;254;p25"/>
          <p:cNvPicPr preferRelativeResize="0"/>
          <p:nvPr/>
        </p:nvPicPr>
        <p:blipFill rotWithShape="1">
          <a:blip r:embed="rId9">
            <a:alphaModFix/>
          </a:blip>
          <a:srcRect b="0" l="0" r="0" t="0"/>
          <a:stretch/>
        </p:blipFill>
        <p:spPr>
          <a:xfrm>
            <a:off x="9659987" y="2390775"/>
            <a:ext cx="428625" cy="381000"/>
          </a:xfrm>
          <a:prstGeom prst="rect">
            <a:avLst/>
          </a:prstGeom>
          <a:noFill/>
          <a:ln>
            <a:noFill/>
          </a:ln>
        </p:spPr>
      </p:pic>
      <p:sp>
        <p:nvSpPr>
          <p:cNvPr id="255" name="Google Shape;255;p25"/>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Technology </a:t>
            </a:r>
            <a:r>
              <a:rPr b="1" i="0" lang="en-US" sz="3600" u="none" cap="none" strike="noStrike">
                <a:solidFill>
                  <a:srgbClr val="38BDF8"/>
                </a:solidFill>
                <a:latin typeface="Urbanist"/>
                <a:ea typeface="Urbanist"/>
                <a:cs typeface="Urbanist"/>
                <a:sym typeface="Urbanist"/>
              </a:rPr>
              <a:t>Stack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59" name="Shape 259"/>
        <p:cNvGrpSpPr/>
        <p:nvPr/>
      </p:nvGrpSpPr>
      <p:grpSpPr>
        <a:xfrm>
          <a:off x="0" y="0"/>
          <a:ext cx="0" cy="0"/>
          <a:chOff x="0" y="0"/>
          <a:chExt cx="0" cy="0"/>
        </a:xfrm>
      </p:grpSpPr>
      <p:pic>
        <p:nvPicPr>
          <p:cNvPr descr="image.png" id="260" name="Google Shape;260;p2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61" name="Google Shape;261;p26"/>
          <p:cNvPicPr preferRelativeResize="0"/>
          <p:nvPr/>
        </p:nvPicPr>
        <p:blipFill rotWithShape="1">
          <a:blip r:embed="rId4">
            <a:alphaModFix/>
          </a:blip>
          <a:srcRect b="0" l="0" r="0" t="0"/>
          <a:stretch/>
        </p:blipFill>
        <p:spPr>
          <a:xfrm>
            <a:off x="6381750" y="1800225"/>
            <a:ext cx="5238750" cy="3810000"/>
          </a:xfrm>
          <a:prstGeom prst="rect">
            <a:avLst/>
          </a:prstGeom>
          <a:noFill/>
          <a:ln>
            <a:noFill/>
          </a:ln>
        </p:spPr>
      </p:pic>
      <p:sp>
        <p:nvSpPr>
          <p:cNvPr id="262" name="Google Shape;262;p26"/>
          <p:cNvSpPr txBox="1"/>
          <p:nvPr/>
        </p:nvSpPr>
        <p:spPr>
          <a:xfrm>
            <a:off x="771525" y="1800225"/>
            <a:ext cx="3810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a:t>
            </a:r>
            <a:endParaRPr/>
          </a:p>
        </p:txBody>
      </p:sp>
      <p:sp>
        <p:nvSpPr>
          <p:cNvPr id="263" name="Google Shape;263;p26"/>
          <p:cNvSpPr txBox="1"/>
          <p:nvPr/>
        </p:nvSpPr>
        <p:spPr>
          <a:xfrm>
            <a:off x="809625" y="1800225"/>
            <a:ext cx="5000625" cy="571500"/>
          </a:xfrm>
          <a:prstGeom prst="rect">
            <a:avLst/>
          </a:prstGeom>
          <a:noFill/>
          <a:ln>
            <a:noFill/>
          </a:ln>
        </p:spPr>
        <p:txBody>
          <a:bodyPr anchorCtr="0" anchor="t" bIns="0" lIns="3810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CBD5E1"/>
                </a:solidFill>
                <a:latin typeface="Urbanist"/>
                <a:ea typeface="Urbanist"/>
                <a:cs typeface="Urbanist"/>
                <a:sym typeface="Urbanist"/>
              </a:rPr>
              <a:t>Iterative mathematical validation was performed on a highly curated dataset consisting of 21 test meshes.</a:t>
            </a:r>
            <a:endParaRPr/>
          </a:p>
        </p:txBody>
      </p:sp>
      <p:sp>
        <p:nvSpPr>
          <p:cNvPr id="264" name="Google Shape;264;p26"/>
          <p:cNvSpPr txBox="1"/>
          <p:nvPr/>
        </p:nvSpPr>
        <p:spPr>
          <a:xfrm>
            <a:off x="771525" y="2562225"/>
            <a:ext cx="3810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a:t>
            </a:r>
            <a:endParaRPr/>
          </a:p>
        </p:txBody>
      </p:sp>
      <p:sp>
        <p:nvSpPr>
          <p:cNvPr id="265" name="Google Shape;265;p26"/>
          <p:cNvSpPr txBox="1"/>
          <p:nvPr/>
        </p:nvSpPr>
        <p:spPr>
          <a:xfrm>
            <a:off x="809625" y="2562225"/>
            <a:ext cx="5000625" cy="857250"/>
          </a:xfrm>
          <a:prstGeom prst="rect">
            <a:avLst/>
          </a:prstGeom>
          <a:noFill/>
          <a:ln>
            <a:noFill/>
          </a:ln>
        </p:spPr>
        <p:txBody>
          <a:bodyPr anchorCtr="0" anchor="t" bIns="0" lIns="3810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CBD5E1"/>
                </a:solidFill>
                <a:latin typeface="Urbanist"/>
                <a:ea typeface="Urbanist"/>
                <a:cs typeface="Urbanist"/>
                <a:sym typeface="Urbanist"/>
              </a:rPr>
              <a:t>Evaluated against Objaverse baseline outputs. Successfully corrected explicitly hallucinated models (Janus faces, duplicated limbs).</a:t>
            </a:r>
            <a:endParaRPr/>
          </a:p>
        </p:txBody>
      </p:sp>
      <p:sp>
        <p:nvSpPr>
          <p:cNvPr id="266" name="Google Shape;266;p26"/>
          <p:cNvSpPr txBox="1"/>
          <p:nvPr/>
        </p:nvSpPr>
        <p:spPr>
          <a:xfrm>
            <a:off x="771525" y="3609975"/>
            <a:ext cx="3810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a:t>
            </a:r>
            <a:endParaRPr/>
          </a:p>
        </p:txBody>
      </p:sp>
      <p:sp>
        <p:nvSpPr>
          <p:cNvPr id="267" name="Google Shape;267;p26"/>
          <p:cNvSpPr txBox="1"/>
          <p:nvPr/>
        </p:nvSpPr>
        <p:spPr>
          <a:xfrm>
            <a:off x="809625" y="3609975"/>
            <a:ext cx="5000625" cy="857250"/>
          </a:xfrm>
          <a:prstGeom prst="rect">
            <a:avLst/>
          </a:prstGeom>
          <a:noFill/>
          <a:ln>
            <a:noFill/>
          </a:ln>
        </p:spPr>
        <p:txBody>
          <a:bodyPr anchorCtr="0" anchor="t" bIns="0" lIns="3810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CBD5E1"/>
                </a:solidFill>
                <a:latin typeface="Urbanist"/>
                <a:ea typeface="Urbanist"/>
                <a:cs typeface="Urbanist"/>
                <a:sym typeface="Urbanist"/>
              </a:rPr>
              <a:t>Developed continuous integration "smoke tests" bypassing the heavy LMM module to guarantee the mathematical stability of the Laplacian solvers during code refactoring.</a:t>
            </a:r>
            <a:endParaRPr/>
          </a:p>
        </p:txBody>
      </p:sp>
      <p:sp>
        <p:nvSpPr>
          <p:cNvPr id="268" name="Google Shape;268;p26"/>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Experiments </a:t>
            </a:r>
            <a:r>
              <a:rPr b="1" i="0" lang="en-US" sz="3600" u="none" cap="none" strike="noStrike">
                <a:solidFill>
                  <a:srgbClr val="38BDF8"/>
                </a:solidFill>
                <a:latin typeface="Urbanist"/>
                <a:ea typeface="Urbanist"/>
                <a:cs typeface="Urbanist"/>
                <a:sym typeface="Urbanist"/>
              </a:rPr>
              <a:t>Conducted</a:t>
            </a:r>
            <a:endParaRPr/>
          </a:p>
        </p:txBody>
      </p:sp>
      <p:pic>
        <p:nvPicPr>
          <p:cNvPr id="269" name="Google Shape;269;p26" title="diagram_5_4_extended_module.drawio.png"/>
          <p:cNvPicPr preferRelativeResize="0"/>
          <p:nvPr/>
        </p:nvPicPr>
        <p:blipFill>
          <a:blip r:embed="rId5">
            <a:alphaModFix/>
          </a:blip>
          <a:stretch>
            <a:fillRect/>
          </a:stretch>
        </p:blipFill>
        <p:spPr>
          <a:xfrm>
            <a:off x="6194901" y="2779738"/>
            <a:ext cx="5612450" cy="18509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73" name="Shape 273"/>
        <p:cNvGrpSpPr/>
        <p:nvPr/>
      </p:nvGrpSpPr>
      <p:grpSpPr>
        <a:xfrm>
          <a:off x="0" y="0"/>
          <a:ext cx="0" cy="0"/>
          <a:chOff x="0" y="0"/>
          <a:chExt cx="0" cy="0"/>
        </a:xfrm>
      </p:grpSpPr>
      <p:pic>
        <p:nvPicPr>
          <p:cNvPr descr="image.png" id="274" name="Google Shape;274;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75" name="Google Shape;275;p27"/>
          <p:cNvPicPr preferRelativeResize="0"/>
          <p:nvPr/>
        </p:nvPicPr>
        <p:blipFill rotWithShape="1">
          <a:blip r:embed="rId4">
            <a:alphaModFix/>
          </a:blip>
          <a:srcRect b="0" l="0" r="0" t="0"/>
          <a:stretch/>
        </p:blipFill>
        <p:spPr>
          <a:xfrm>
            <a:off x="571500" y="4276725"/>
            <a:ext cx="2541240" cy="2152650"/>
          </a:xfrm>
          <a:prstGeom prst="rect">
            <a:avLst/>
          </a:prstGeom>
          <a:noFill/>
          <a:ln>
            <a:noFill/>
          </a:ln>
        </p:spPr>
      </p:pic>
      <p:pic>
        <p:nvPicPr>
          <p:cNvPr descr="image.png" id="276" name="Google Shape;276;p27"/>
          <p:cNvPicPr preferRelativeResize="0"/>
          <p:nvPr/>
        </p:nvPicPr>
        <p:blipFill rotWithShape="1">
          <a:blip r:embed="rId5">
            <a:alphaModFix/>
          </a:blip>
          <a:srcRect b="0" l="0" r="0" t="0"/>
          <a:stretch/>
        </p:blipFill>
        <p:spPr>
          <a:xfrm>
            <a:off x="3407419" y="1457325"/>
            <a:ext cx="2541240" cy="2152650"/>
          </a:xfrm>
          <a:prstGeom prst="rect">
            <a:avLst/>
          </a:prstGeom>
          <a:noFill/>
          <a:ln>
            <a:noFill/>
          </a:ln>
        </p:spPr>
      </p:pic>
      <p:pic>
        <p:nvPicPr>
          <p:cNvPr descr="image.png" id="277" name="Google Shape;277;p27"/>
          <p:cNvPicPr preferRelativeResize="0"/>
          <p:nvPr/>
        </p:nvPicPr>
        <p:blipFill rotWithShape="1">
          <a:blip r:embed="rId6">
            <a:alphaModFix/>
          </a:blip>
          <a:srcRect b="0" l="0" r="0" t="0"/>
          <a:stretch/>
        </p:blipFill>
        <p:spPr>
          <a:xfrm>
            <a:off x="6243339" y="4276725"/>
            <a:ext cx="2541240" cy="2476500"/>
          </a:xfrm>
          <a:prstGeom prst="rect">
            <a:avLst/>
          </a:prstGeom>
          <a:noFill/>
          <a:ln>
            <a:noFill/>
          </a:ln>
        </p:spPr>
      </p:pic>
      <p:pic>
        <p:nvPicPr>
          <p:cNvPr descr="image.png" id="278" name="Google Shape;278;p27"/>
          <p:cNvPicPr preferRelativeResize="0"/>
          <p:nvPr/>
        </p:nvPicPr>
        <p:blipFill rotWithShape="1">
          <a:blip r:embed="rId7">
            <a:alphaModFix/>
          </a:blip>
          <a:srcRect b="0" l="0" r="0" t="0"/>
          <a:stretch/>
        </p:blipFill>
        <p:spPr>
          <a:xfrm>
            <a:off x="9079259" y="1743075"/>
            <a:ext cx="2541240" cy="1866900"/>
          </a:xfrm>
          <a:prstGeom prst="rect">
            <a:avLst/>
          </a:prstGeom>
          <a:noFill/>
          <a:ln>
            <a:noFill/>
          </a:ln>
        </p:spPr>
      </p:pic>
      <p:sp>
        <p:nvSpPr>
          <p:cNvPr id="279" name="Google Shape;279;p27"/>
          <p:cNvSpPr/>
          <p:nvPr/>
        </p:nvSpPr>
        <p:spPr>
          <a:xfrm>
            <a:off x="571500" y="3924300"/>
            <a:ext cx="11049000" cy="3810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0" name="Google Shape;280;p27"/>
          <p:cNvSpPr txBox="1"/>
          <p:nvPr/>
        </p:nvSpPr>
        <p:spPr>
          <a:xfrm>
            <a:off x="717995" y="4476750"/>
            <a:ext cx="2248249"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38BDF8"/>
                </a:solidFill>
                <a:latin typeface="Urbanist Medium"/>
                <a:ea typeface="Urbanist Medium"/>
                <a:cs typeface="Urbanist Medium"/>
                <a:sym typeface="Urbanist Medium"/>
              </a:rPr>
              <a:t>Q1 - Foundations</a:t>
            </a:r>
            <a:endParaRPr/>
          </a:p>
        </p:txBody>
      </p:sp>
      <p:sp>
        <p:nvSpPr>
          <p:cNvPr id="281" name="Google Shape;281;p27"/>
          <p:cNvSpPr txBox="1"/>
          <p:nvPr/>
        </p:nvSpPr>
        <p:spPr>
          <a:xfrm>
            <a:off x="771525" y="4943475"/>
            <a:ext cx="2141190" cy="11430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CBD5E1"/>
                </a:solidFill>
                <a:latin typeface="Urbanist"/>
                <a:ea typeface="Urbanist"/>
                <a:cs typeface="Urbanist"/>
                <a:sym typeface="Urbanist"/>
              </a:rPr>
              <a:t>Designed the Metric Framework and analyzed topological baseline errors.</a:t>
            </a:r>
            <a:endParaRPr/>
          </a:p>
        </p:txBody>
      </p:sp>
      <p:sp>
        <p:nvSpPr>
          <p:cNvPr id="282" name="Google Shape;282;p27"/>
          <p:cNvSpPr txBox="1"/>
          <p:nvPr/>
        </p:nvSpPr>
        <p:spPr>
          <a:xfrm>
            <a:off x="3553915" y="1657350"/>
            <a:ext cx="2248249"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38BDF8"/>
                </a:solidFill>
                <a:latin typeface="Urbanist Medium"/>
                <a:ea typeface="Urbanist Medium"/>
                <a:cs typeface="Urbanist Medium"/>
                <a:sym typeface="Urbanist Medium"/>
              </a:rPr>
              <a:t>Q2 - ML Engine</a:t>
            </a:r>
            <a:endParaRPr/>
          </a:p>
        </p:txBody>
      </p:sp>
      <p:sp>
        <p:nvSpPr>
          <p:cNvPr id="283" name="Google Shape;283;p27"/>
          <p:cNvSpPr txBox="1"/>
          <p:nvPr/>
        </p:nvSpPr>
        <p:spPr>
          <a:xfrm>
            <a:off x="3607444" y="2124075"/>
            <a:ext cx="2141190" cy="11430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CBD5E1"/>
                </a:solidFill>
                <a:latin typeface="Urbanist"/>
                <a:ea typeface="Urbanist"/>
                <a:cs typeface="Urbanist"/>
                <a:sym typeface="Urbanist"/>
              </a:rPr>
              <a:t>Implemented the Heuristic Critic, Discriminator, and LMM integrations.</a:t>
            </a:r>
            <a:endParaRPr/>
          </a:p>
        </p:txBody>
      </p:sp>
      <p:sp>
        <p:nvSpPr>
          <p:cNvPr id="284" name="Google Shape;284;p27"/>
          <p:cNvSpPr txBox="1"/>
          <p:nvPr/>
        </p:nvSpPr>
        <p:spPr>
          <a:xfrm>
            <a:off x="6389835" y="4476750"/>
            <a:ext cx="2248249" cy="647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38BDF8"/>
                </a:solidFill>
                <a:latin typeface="Urbanist Medium"/>
                <a:ea typeface="Urbanist Medium"/>
                <a:cs typeface="Urbanist Medium"/>
                <a:sym typeface="Urbanist Medium"/>
              </a:rPr>
              <a:t>Q3 - Optimization</a:t>
            </a:r>
            <a:endParaRPr/>
          </a:p>
        </p:txBody>
      </p:sp>
      <p:sp>
        <p:nvSpPr>
          <p:cNvPr id="285" name="Google Shape;285;p27"/>
          <p:cNvSpPr txBox="1"/>
          <p:nvPr/>
        </p:nvSpPr>
        <p:spPr>
          <a:xfrm>
            <a:off x="6443364" y="5267325"/>
            <a:ext cx="2141190" cy="11430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i="0" lang="en-US" sz="1500" u="none" cap="none" strike="noStrike">
                <a:solidFill>
                  <a:srgbClr val="CBD5E1"/>
                </a:solidFill>
                <a:latin typeface="Urbanist"/>
                <a:ea typeface="Urbanist"/>
                <a:cs typeface="Urbanist"/>
                <a:sym typeface="Urbanist"/>
              </a:rPr>
              <a:t>[Current]</a:t>
            </a:r>
            <a:r>
              <a:rPr b="0" i="0" lang="en-US" sz="1500" u="none" cap="none" strike="noStrike">
                <a:solidFill>
                  <a:srgbClr val="CBD5E1"/>
                </a:solidFill>
                <a:latin typeface="Urbanist"/>
                <a:ea typeface="Urbanist"/>
                <a:cs typeface="Urbanist"/>
                <a:sym typeface="Urbanist"/>
              </a:rPr>
              <a:t> Built Geometric Grounding module and iterative refinement loops.</a:t>
            </a:r>
            <a:endParaRPr/>
          </a:p>
        </p:txBody>
      </p:sp>
      <p:sp>
        <p:nvSpPr>
          <p:cNvPr id="286" name="Google Shape;286;p27"/>
          <p:cNvSpPr txBox="1"/>
          <p:nvPr/>
        </p:nvSpPr>
        <p:spPr>
          <a:xfrm>
            <a:off x="9225755" y="1943100"/>
            <a:ext cx="2248249"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38BDF8"/>
                </a:solidFill>
                <a:latin typeface="Urbanist Medium"/>
                <a:ea typeface="Urbanist Medium"/>
                <a:cs typeface="Urbanist Medium"/>
                <a:sym typeface="Urbanist Medium"/>
              </a:rPr>
              <a:t>Q4 - Final Eval</a:t>
            </a:r>
            <a:endParaRPr/>
          </a:p>
        </p:txBody>
      </p:sp>
      <p:sp>
        <p:nvSpPr>
          <p:cNvPr id="287" name="Google Shape;287;p27"/>
          <p:cNvSpPr txBox="1"/>
          <p:nvPr/>
        </p:nvSpPr>
        <p:spPr>
          <a:xfrm>
            <a:off x="9279284" y="2409825"/>
            <a:ext cx="2141190" cy="85725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CBD5E1"/>
                </a:solidFill>
                <a:latin typeface="Urbanist"/>
                <a:ea typeface="Urbanist"/>
                <a:cs typeface="Urbanist"/>
                <a:sym typeface="Urbanist"/>
              </a:rPr>
              <a:t>Execution against large-scale GSO datasets and benchmark reporting.</a:t>
            </a:r>
            <a:endParaRPr/>
          </a:p>
        </p:txBody>
      </p:sp>
      <p:sp>
        <p:nvSpPr>
          <p:cNvPr id="288" name="Google Shape;288;p27"/>
          <p:cNvSpPr/>
          <p:nvPr/>
        </p:nvSpPr>
        <p:spPr>
          <a:xfrm>
            <a:off x="1727820" y="3829050"/>
            <a:ext cx="228600" cy="228600"/>
          </a:xfrm>
          <a:prstGeom prst="roundRect">
            <a:avLst>
              <a:gd fmla="val 50000" name="adj"/>
            </a:avLst>
          </a:prstGeom>
          <a:solidFill>
            <a:srgbClr val="0F172A"/>
          </a:solidFill>
          <a:ln cap="flat" cmpd="sng" w="3810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9" name="Google Shape;289;p27"/>
          <p:cNvSpPr/>
          <p:nvPr/>
        </p:nvSpPr>
        <p:spPr>
          <a:xfrm>
            <a:off x="4563740" y="3829050"/>
            <a:ext cx="228600" cy="228600"/>
          </a:xfrm>
          <a:prstGeom prst="roundRect">
            <a:avLst>
              <a:gd fmla="val 50000" name="adj"/>
            </a:avLst>
          </a:prstGeom>
          <a:solidFill>
            <a:srgbClr val="0F172A"/>
          </a:solidFill>
          <a:ln cap="flat" cmpd="sng" w="3810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0" name="Google Shape;290;p27"/>
          <p:cNvSpPr/>
          <p:nvPr/>
        </p:nvSpPr>
        <p:spPr>
          <a:xfrm>
            <a:off x="7399659" y="3829050"/>
            <a:ext cx="228600" cy="228600"/>
          </a:xfrm>
          <a:prstGeom prst="roundRect">
            <a:avLst>
              <a:gd fmla="val 50000" name="adj"/>
            </a:avLst>
          </a:prstGeom>
          <a:solidFill>
            <a:srgbClr val="0F172A"/>
          </a:solidFill>
          <a:ln cap="flat" cmpd="sng" w="3810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1" name="Google Shape;291;p27"/>
          <p:cNvSpPr/>
          <p:nvPr/>
        </p:nvSpPr>
        <p:spPr>
          <a:xfrm>
            <a:off x="10235579" y="3829050"/>
            <a:ext cx="228600" cy="228600"/>
          </a:xfrm>
          <a:prstGeom prst="roundRect">
            <a:avLst>
              <a:gd fmla="val 50000" name="adj"/>
            </a:avLst>
          </a:prstGeom>
          <a:solidFill>
            <a:srgbClr val="0F172A"/>
          </a:solidFill>
          <a:ln cap="flat" cmpd="sng" w="3810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2" name="Google Shape;292;p27"/>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Progress &amp; </a:t>
            </a:r>
            <a:r>
              <a:rPr b="1" i="0" lang="en-US" sz="3600" u="none" cap="none" strike="noStrike">
                <a:solidFill>
                  <a:srgbClr val="38BDF8"/>
                </a:solidFill>
                <a:latin typeface="Urbanist"/>
                <a:ea typeface="Urbanist"/>
                <a:cs typeface="Urbanist"/>
                <a:sym typeface="Urbanist"/>
              </a:rPr>
              <a:t>Timeline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96" name="Shape 296"/>
        <p:cNvGrpSpPr/>
        <p:nvPr/>
      </p:nvGrpSpPr>
      <p:grpSpPr>
        <a:xfrm>
          <a:off x="0" y="0"/>
          <a:ext cx="0" cy="0"/>
          <a:chOff x="0" y="0"/>
          <a:chExt cx="0" cy="0"/>
        </a:xfrm>
      </p:grpSpPr>
      <p:pic>
        <p:nvPicPr>
          <p:cNvPr descr="image.png" id="297" name="Google Shape;297;p2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98" name="Google Shape;298;p28"/>
          <p:cNvSpPr txBox="1"/>
          <p:nvPr/>
        </p:nvSpPr>
        <p:spPr>
          <a:xfrm>
            <a:off x="295275" y="2633662"/>
            <a:ext cx="11601450" cy="914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6000" u="none" cap="none" strike="noStrike">
                <a:solidFill>
                  <a:srgbClr val="38BDF8"/>
                </a:solidFill>
                <a:latin typeface="Urbanist"/>
                <a:ea typeface="Urbanist"/>
                <a:cs typeface="Urbanist"/>
                <a:sym typeface="Urbanist"/>
              </a:rPr>
              <a:t>Questions?</a:t>
            </a:r>
            <a:endParaRPr/>
          </a:p>
        </p:txBody>
      </p:sp>
      <p:sp>
        <p:nvSpPr>
          <p:cNvPr id="299" name="Google Shape;299;p28"/>
          <p:cNvSpPr txBox="1"/>
          <p:nvPr/>
        </p:nvSpPr>
        <p:spPr>
          <a:xfrm>
            <a:off x="571500" y="3738562"/>
            <a:ext cx="11049000" cy="3429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800" u="none" cap="none" strike="noStrike">
                <a:solidFill>
                  <a:srgbClr val="CBD5E1"/>
                </a:solidFill>
                <a:latin typeface="Urbanist"/>
                <a:ea typeface="Urbanist"/>
                <a:cs typeface="Urbanist"/>
                <a:sym typeface="Urbanist"/>
              </a:rPr>
              <a:t>Thank you for your time.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